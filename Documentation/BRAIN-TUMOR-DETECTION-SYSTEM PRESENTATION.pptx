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1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Nunito Semi Bold" panose="020B0604020202020204" charset="0"/>
      <p:regular r:id="rId11"/>
    </p:embeddedFont>
    <p:embeddedFont>
      <p:font typeface="PT Sans" panose="020B0503020203020204" pitchFamily="34" charset="0"/>
      <p:regular r:id="rId12"/>
      <p:bold r:id="rId13"/>
      <p:italic r:id="rId14"/>
      <p:boldItalic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E1B46A-C24C-4A4F-9831-5945F714160D}" v="131" dt="2025-04-28T05:47:34.3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B6BF65C6-F556-414A-833B-DB905AA2FF64}" type="datetimeFigureOut">
              <a:t>27/04/2025</a:t>
            </a:fld>
            <a:endParaRPr lang="en-GB"/>
          </a:p>
        </p:txBody>
      </p:sp>
      <p:sp>
        <p:nvSpPr>
          <p:cNvPr id="4" name="Slide Image Placeholder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B0EA2FB4-3F3C-4595-86D9-0C93298DB46D}" type="slidenum">
              <a:t>‹#›</a:t>
            </a:fld>
            <a:endParaRPr lang="en-GB"/>
          </a:p>
        </p:txBody>
      </p:sp>
    </p:spTree>
    <p:extLst>
      <p:ext uri="{BB962C8B-B14F-4D97-AF65-F5344CB8AC3E}">
        <p14:creationId xmlns:p14="http://schemas.microsoft.com/office/powerpoint/2010/main" val="37390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10667"/>
            </a:lvl1pPr>
          </a:lstStyle>
          <a:p>
            <a:r>
              <a:rPr lang="en-US" dirty="0"/>
              <a:t>Click to edit Master title style</a:t>
            </a:r>
          </a:p>
        </p:txBody>
      </p:sp>
      <p:sp>
        <p:nvSpPr>
          <p:cNvPr id="3" name="Subtitle 2"/>
          <p:cNvSpPr>
            <a:spLocks noGrp="1"/>
          </p:cNvSpPr>
          <p:nvPr>
            <p:ph type="subTitle" idx="1"/>
          </p:nvPr>
        </p:nvSpPr>
        <p:spPr>
          <a:xfrm>
            <a:off x="1828800" y="4322446"/>
            <a:ext cx="10972800" cy="1986914"/>
          </a:xfrm>
        </p:spPr>
        <p:txBody>
          <a:bodyPr/>
          <a:lstStyle>
            <a:lvl1pPr marL="0" indent="0" algn="ctr">
              <a:buNone/>
              <a:defRPr sz="4267"/>
            </a:lvl1pPr>
            <a:lvl2pPr marL="812810" indent="0" algn="ctr">
              <a:buNone/>
              <a:defRPr sz="3556"/>
            </a:lvl2pPr>
            <a:lvl3pPr marL="1625620" indent="0" algn="ctr">
              <a:buNone/>
              <a:defRPr sz="3200"/>
            </a:lvl3pPr>
            <a:lvl4pPr marL="2438430" indent="0" algn="ctr">
              <a:buNone/>
              <a:defRPr sz="2844"/>
            </a:lvl4pPr>
            <a:lvl5pPr marL="3251241" indent="0" algn="ctr">
              <a:buNone/>
              <a:defRPr sz="2844"/>
            </a:lvl5pPr>
            <a:lvl6pPr marL="4064051" indent="0" algn="ctr">
              <a:buNone/>
              <a:defRPr sz="2844"/>
            </a:lvl6pPr>
            <a:lvl7pPr marL="4876861" indent="0" algn="ctr">
              <a:buNone/>
              <a:defRPr sz="2844"/>
            </a:lvl7pPr>
            <a:lvl8pPr marL="5689671" indent="0" algn="ctr">
              <a:buNone/>
              <a:defRPr sz="2844"/>
            </a:lvl8pPr>
            <a:lvl9pPr marL="6502481" indent="0" algn="ctr">
              <a:buNone/>
              <a:defRPr sz="2844"/>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40710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52511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10667"/>
            </a:lvl1pPr>
          </a:lstStyle>
          <a:p>
            <a:r>
              <a:rPr lang="en-US" dirty="0"/>
              <a:t>Click to edit Master title style</a:t>
            </a:r>
          </a:p>
        </p:txBody>
      </p:sp>
      <p:sp>
        <p:nvSpPr>
          <p:cNvPr id="3" name="Text Placeholder 2"/>
          <p:cNvSpPr>
            <a:spLocks noGrp="1"/>
          </p:cNvSpPr>
          <p:nvPr>
            <p:ph type="body" idx="1"/>
          </p:nvPr>
        </p:nvSpPr>
        <p:spPr>
          <a:xfrm>
            <a:off x="998220" y="5507356"/>
            <a:ext cx="12618720" cy="1800224"/>
          </a:xfrm>
        </p:spPr>
        <p:txBody>
          <a:bodyPr/>
          <a:lstStyle>
            <a:lvl1pPr marL="0" indent="0">
              <a:buNone/>
              <a:defRPr sz="4267">
                <a:solidFill>
                  <a:schemeClr val="tx1">
                    <a:tint val="75000"/>
                  </a:schemeClr>
                </a:solidFill>
              </a:defRPr>
            </a:lvl1pPr>
            <a:lvl2pPr marL="812810" indent="0">
              <a:buNone/>
              <a:defRPr sz="3556">
                <a:solidFill>
                  <a:schemeClr val="tx1">
                    <a:tint val="75000"/>
                  </a:schemeClr>
                </a:solidFill>
              </a:defRPr>
            </a:lvl2pPr>
            <a:lvl3pPr marL="1625620" indent="0">
              <a:buNone/>
              <a:defRPr sz="3200">
                <a:solidFill>
                  <a:schemeClr val="tx1">
                    <a:tint val="75000"/>
                  </a:schemeClr>
                </a:solidFill>
              </a:defRPr>
            </a:lvl3pPr>
            <a:lvl4pPr marL="2438430" indent="0">
              <a:buNone/>
              <a:defRPr sz="2844">
                <a:solidFill>
                  <a:schemeClr val="tx1">
                    <a:tint val="75000"/>
                  </a:schemeClr>
                </a:solidFill>
              </a:defRPr>
            </a:lvl4pPr>
            <a:lvl5pPr marL="3251241" indent="0">
              <a:buNone/>
              <a:defRPr sz="2844">
                <a:solidFill>
                  <a:schemeClr val="tx1">
                    <a:tint val="75000"/>
                  </a:schemeClr>
                </a:solidFill>
              </a:defRPr>
            </a:lvl5pPr>
            <a:lvl6pPr marL="4064051" indent="0">
              <a:buNone/>
              <a:defRPr sz="2844">
                <a:solidFill>
                  <a:schemeClr val="tx1">
                    <a:tint val="75000"/>
                  </a:schemeClr>
                </a:solidFill>
              </a:defRPr>
            </a:lvl6pPr>
            <a:lvl7pPr marL="4876861" indent="0">
              <a:buNone/>
              <a:defRPr sz="2844">
                <a:solidFill>
                  <a:schemeClr val="tx1">
                    <a:tint val="75000"/>
                  </a:schemeClr>
                </a:solidFill>
              </a:defRPr>
            </a:lvl7pPr>
            <a:lvl8pPr marL="5689671" indent="0">
              <a:buNone/>
              <a:defRPr sz="2844">
                <a:solidFill>
                  <a:schemeClr val="tx1">
                    <a:tint val="75000"/>
                  </a:schemeClr>
                </a:solidFill>
              </a:defRPr>
            </a:lvl8pPr>
            <a:lvl9pPr marL="6502481" indent="0">
              <a:buNone/>
              <a:defRPr sz="2844">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68628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005840" y="2190750"/>
            <a:ext cx="6217920" cy="522160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7406640" y="2190750"/>
            <a:ext cx="6217920" cy="522160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4/27/2025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55044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dirty="0"/>
              <a:t>Click to edit Master title style</a:t>
            </a:r>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4267" b="1"/>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dirty="0"/>
              <a:t>Click to edit Master text styles</a:t>
            </a:r>
          </a:p>
        </p:txBody>
      </p:sp>
      <p:sp>
        <p:nvSpPr>
          <p:cNvPr id="4" name="Content Placeholder 3"/>
          <p:cNvSpPr>
            <a:spLocks noGrp="1"/>
          </p:cNvSpPr>
          <p:nvPr>
            <p:ph sz="half" idx="2"/>
          </p:nvPr>
        </p:nvSpPr>
        <p:spPr>
          <a:xfrm>
            <a:off x="1007746" y="3006090"/>
            <a:ext cx="6189344" cy="442150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4267" b="1"/>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dirty="0"/>
              <a:t>Click to 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4/27/2025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7252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4/27/2025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79986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4/27/2025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32966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5689"/>
            </a:lvl1pPr>
          </a:lstStyle>
          <a:p>
            <a:r>
              <a:rPr lang="en-US" dirty="0"/>
              <a:t>Click to edit Master title style</a:t>
            </a:r>
          </a:p>
        </p:txBody>
      </p:sp>
      <p:sp>
        <p:nvSpPr>
          <p:cNvPr id="3" name="Content Placeholder 2"/>
          <p:cNvSpPr>
            <a:spLocks noGrp="1"/>
          </p:cNvSpPr>
          <p:nvPr>
            <p:ph idx="1"/>
          </p:nvPr>
        </p:nvSpPr>
        <p:spPr>
          <a:xfrm>
            <a:off x="6219826" y="1184911"/>
            <a:ext cx="7406640" cy="5848350"/>
          </a:xfrm>
        </p:spPr>
        <p:txBody>
          <a:bodyPr/>
          <a:lstStyle>
            <a:lvl1pPr>
              <a:defRPr sz="5689"/>
            </a:lvl1pPr>
            <a:lvl2pPr>
              <a:defRPr sz="4978"/>
            </a:lvl2pPr>
            <a:lvl3pPr>
              <a:defRPr sz="4267"/>
            </a:lvl3pPr>
            <a:lvl4pPr>
              <a:defRPr sz="3556"/>
            </a:lvl4pPr>
            <a:lvl5pPr>
              <a:defRPr sz="3556"/>
            </a:lvl5pPr>
            <a:lvl6pPr>
              <a:defRPr sz="3556"/>
            </a:lvl6pPr>
            <a:lvl7pPr>
              <a:defRPr sz="3556"/>
            </a:lvl7pPr>
            <a:lvl8pPr>
              <a:defRPr sz="3556"/>
            </a:lvl8pPr>
            <a:lvl9pPr>
              <a:defRPr sz="355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2844"/>
            </a:lvl1pPr>
            <a:lvl2pPr marL="812810" indent="0">
              <a:buNone/>
              <a:defRPr sz="2489"/>
            </a:lvl2pPr>
            <a:lvl3pPr marL="1625620" indent="0">
              <a:buNone/>
              <a:defRPr sz="2133"/>
            </a:lvl3pPr>
            <a:lvl4pPr marL="2438430" indent="0">
              <a:buNone/>
              <a:defRPr sz="1778"/>
            </a:lvl4pPr>
            <a:lvl5pPr marL="3251241" indent="0">
              <a:buNone/>
              <a:defRPr sz="1778"/>
            </a:lvl5pPr>
            <a:lvl6pPr marL="4064051" indent="0">
              <a:buNone/>
              <a:defRPr sz="1778"/>
            </a:lvl6pPr>
            <a:lvl7pPr marL="4876861" indent="0">
              <a:buNone/>
              <a:defRPr sz="1778"/>
            </a:lvl7pPr>
            <a:lvl8pPr marL="5689671" indent="0">
              <a:buNone/>
              <a:defRPr sz="1778"/>
            </a:lvl8pPr>
            <a:lvl9pPr marL="6502481" indent="0">
              <a:buNone/>
              <a:defRPr sz="1778"/>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78565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5689"/>
            </a:lvl1pPr>
          </a:lstStyle>
          <a:p>
            <a:r>
              <a:rPr lang="en-US" dirty="0"/>
              <a:t>Click to edit Master title style</a:t>
            </a:r>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5689"/>
            </a:lvl1pPr>
            <a:lvl2pPr marL="812810" indent="0">
              <a:buNone/>
              <a:defRPr sz="4978"/>
            </a:lvl2pPr>
            <a:lvl3pPr marL="1625620" indent="0">
              <a:buNone/>
              <a:defRPr sz="4267"/>
            </a:lvl3pPr>
            <a:lvl4pPr marL="2438430" indent="0">
              <a:buNone/>
              <a:defRPr sz="3556"/>
            </a:lvl4pPr>
            <a:lvl5pPr marL="3251241" indent="0">
              <a:buNone/>
              <a:defRPr sz="3556"/>
            </a:lvl5pPr>
            <a:lvl6pPr marL="4064051" indent="0">
              <a:buNone/>
              <a:defRPr sz="3556"/>
            </a:lvl6pPr>
            <a:lvl7pPr marL="4876861" indent="0">
              <a:buNone/>
              <a:defRPr sz="3556"/>
            </a:lvl7pPr>
            <a:lvl8pPr marL="5689671" indent="0">
              <a:buNone/>
              <a:defRPr sz="3556"/>
            </a:lvl8pPr>
            <a:lvl9pPr marL="6502481" indent="0">
              <a:buNone/>
              <a:defRPr sz="3556"/>
            </a:lvl9pPr>
          </a:lstStyle>
          <a:p>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2844"/>
            </a:lvl1pPr>
            <a:lvl2pPr marL="812810" indent="0">
              <a:buNone/>
              <a:defRPr sz="2489"/>
            </a:lvl2pPr>
            <a:lvl3pPr marL="1625620" indent="0">
              <a:buNone/>
              <a:defRPr sz="2133"/>
            </a:lvl3pPr>
            <a:lvl4pPr marL="2438430" indent="0">
              <a:buNone/>
              <a:defRPr sz="1778"/>
            </a:lvl4pPr>
            <a:lvl5pPr marL="3251241" indent="0">
              <a:buNone/>
              <a:defRPr sz="1778"/>
            </a:lvl5pPr>
            <a:lvl6pPr marL="4064051" indent="0">
              <a:buNone/>
              <a:defRPr sz="1778"/>
            </a:lvl6pPr>
            <a:lvl7pPr marL="4876861" indent="0">
              <a:buNone/>
              <a:defRPr sz="1778"/>
            </a:lvl7pPr>
            <a:lvl8pPr marL="5689671" indent="0">
              <a:buNone/>
              <a:defRPr sz="1778"/>
            </a:lvl8pPr>
            <a:lvl9pPr marL="6502481" indent="0">
              <a:buNone/>
              <a:defRPr sz="1778"/>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48849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65792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12906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3486723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18360354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27981573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13264509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3708693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39603594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33874354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1294695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2133">
                <a:solidFill>
                  <a:schemeClr val="tx1">
                    <a:tint val="75000"/>
                  </a:schemeClr>
                </a:solidFill>
              </a:defRPr>
            </a:lvl1pPr>
          </a:lstStyle>
          <a:p>
            <a:fld id="{C764DE79-268F-4C1A-8933-263129D2AF90}" type="datetimeFigureOut">
              <a:rPr lang="en-US" dirty="0"/>
              <a:t>4/27/2025</a:t>
            </a:fld>
            <a:endParaRPr lang="en-US" dirty="0"/>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2133">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2133">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229430675"/>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6.xml"/><Relationship Id="rId5" Type="http://schemas.openxmlformats.org/officeDocument/2006/relationships/image" Target="../media/image4.png"/><Relationship Id="rId4" Type="http://schemas.openxmlformats.org/officeDocument/2006/relationships/hyperlink" Target="https://www.frontiersin.org/articles/10.3389/fmars.2023.1266452/full"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398" cy="82288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0"/>
          <p:cNvSpPr/>
          <p:nvPr/>
        </p:nvSpPr>
        <p:spPr>
          <a:xfrm>
            <a:off x="707472" y="1027416"/>
            <a:ext cx="5472700" cy="1353681"/>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4400">
                <a:latin typeface="+mj-lt"/>
                <a:ea typeface="+mj-ea"/>
                <a:cs typeface="+mj-cs"/>
              </a:rPr>
              <a:t>BRAIN TUMOR DETECTION SYSTEM</a:t>
            </a:r>
          </a:p>
        </p:txBody>
      </p:sp>
      <p:grpSp>
        <p:nvGrpSpPr>
          <p:cNvPr id="17" name="Group 1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300180"/>
            <a:ext cx="426237" cy="808152"/>
            <a:chOff x="0" y="823811"/>
            <a:chExt cx="355196" cy="673460"/>
          </a:xfrm>
        </p:grpSpPr>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8102" y="2508682"/>
            <a:ext cx="5157216" cy="329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1"/>
          <p:cNvSpPr/>
          <p:nvPr/>
        </p:nvSpPr>
        <p:spPr>
          <a:xfrm>
            <a:off x="708862" y="2796606"/>
            <a:ext cx="5471310" cy="4775502"/>
          </a:xfrm>
          <a:prstGeom prst="rect">
            <a:avLst/>
          </a:prstGeom>
        </p:spPr>
        <p:txBody>
          <a:bodyPr vert="horz" lIns="91440" tIns="45720" rIns="91440" bIns="45720" rtlCol="0" anchor="ctr">
            <a:normAutofit/>
          </a:bodyPr>
          <a:lstStyle/>
          <a:p>
            <a:pPr marL="0" indent="-228600">
              <a:lnSpc>
                <a:spcPct val="90000"/>
              </a:lnSpc>
              <a:spcAft>
                <a:spcPts val="600"/>
              </a:spcAft>
              <a:buFont typeface="Arial" panose="020B0604020202020204" pitchFamily="34" charset="0"/>
              <a:buChar char="•"/>
            </a:pPr>
            <a:r>
              <a:rPr lang="en-US" sz="2400"/>
              <a:t>This AI-powered system uses deep learning to analyze MRI scans and detect brain tumors. It offers a user-friendly interface for uploading images, instant analysis, and downloadable PDF reports. Developed with advanced technologies, it aims to improve early and accurate diagnosis, reducing manual inspection errors and time.
Presented by: Livingstone Mazvovere</a:t>
            </a:r>
            <a:r>
              <a:rPr lang="en-US" sz="2400" b="1"/>
              <a:t>
</a:t>
            </a:r>
            <a:r>
              <a:rPr lang="en-US" sz="2400"/>
              <a:t>Exam Roll No: 22020107055</a:t>
            </a:r>
          </a:p>
        </p:txBody>
      </p:sp>
      <p:sp>
        <p:nvSpPr>
          <p:cNvPr id="21" name="Rectangle 20">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837204" y="0"/>
            <a:ext cx="1793196" cy="82296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2972" y="616623"/>
            <a:ext cx="7211239" cy="700149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 1" descr="preencoded.png"/>
          <p:cNvPicPr>
            <a:picLocks noChangeAspect="1"/>
          </p:cNvPicPr>
          <p:nvPr/>
        </p:nvPicPr>
        <p:blipFill>
          <a:blip r:embed="rId3"/>
          <a:srcRect t="3062" r="-1" b="-1"/>
          <a:stretch/>
        </p:blipFill>
        <p:spPr>
          <a:xfrm>
            <a:off x="7173345" y="959222"/>
            <a:ext cx="6510492" cy="63111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ext 0"/>
          <p:cNvSpPr/>
          <p:nvPr/>
        </p:nvSpPr>
        <p:spPr>
          <a:xfrm>
            <a:off x="837724" y="1580793"/>
            <a:ext cx="7468553" cy="1408033"/>
          </a:xfrm>
          <a:prstGeom prst="rect">
            <a:avLst/>
          </a:prstGeom>
          <a:noFill/>
          <a:ln/>
        </p:spPr>
        <p:txBody>
          <a:bodyPr wrap="square" lIns="0" tIns="0" rIns="0" bIns="0" rtlCol="0" anchor="t"/>
          <a:lstStyle/>
          <a:p>
            <a:pPr marL="0" indent="0" algn="l">
              <a:lnSpc>
                <a:spcPts val="5500"/>
              </a:lnSpc>
              <a:buNone/>
            </a:pPr>
            <a:r>
              <a:rPr lang="en-US" sz="4400" dirty="0">
                <a:solidFill>
                  <a:srgbClr val="FFFFFF"/>
                </a:solidFill>
                <a:latin typeface="Nunito Semi Bold" pitchFamily="34" charset="0"/>
                <a:ea typeface="Nunito Semi Bold" pitchFamily="34" charset="-122"/>
                <a:cs typeface="Nunito Semi Bold" pitchFamily="34" charset="-120"/>
              </a:rPr>
              <a:t>Project Overview and Timeline</a:t>
            </a:r>
            <a:endParaRPr lang="en-US" sz="4400" dirty="0"/>
          </a:p>
        </p:txBody>
      </p:sp>
      <p:sp>
        <p:nvSpPr>
          <p:cNvPr id="5" name="Shape 1"/>
          <p:cNvSpPr/>
          <p:nvPr/>
        </p:nvSpPr>
        <p:spPr>
          <a:xfrm>
            <a:off x="837724" y="3617000"/>
            <a:ext cx="538520" cy="538520"/>
          </a:xfrm>
          <a:prstGeom prst="roundRect">
            <a:avLst>
              <a:gd name="adj" fmla="val 66677"/>
            </a:avLst>
          </a:prstGeom>
          <a:solidFill>
            <a:srgbClr val="00002E"/>
          </a:solidFill>
          <a:ln w="22860">
            <a:solidFill>
              <a:srgbClr val="F2B42D"/>
            </a:solidFill>
            <a:prstDash val="solid"/>
          </a:ln>
        </p:spPr>
      </p:sp>
      <p:sp>
        <p:nvSpPr>
          <p:cNvPr id="6" name="Text 2"/>
          <p:cNvSpPr/>
          <p:nvPr/>
        </p:nvSpPr>
        <p:spPr>
          <a:xfrm>
            <a:off x="937974" y="3674983"/>
            <a:ext cx="337899" cy="422434"/>
          </a:xfrm>
          <a:prstGeom prst="rect">
            <a:avLst/>
          </a:prstGeom>
          <a:noFill/>
          <a:ln/>
        </p:spPr>
        <p:txBody>
          <a:bodyPr wrap="none" lIns="0" tIns="0" rIns="0" bIns="0" rtlCol="0" anchor="t"/>
          <a:lstStyle/>
          <a:p>
            <a:pPr marL="0" indent="0" algn="ctr">
              <a:lnSpc>
                <a:spcPts val="2650"/>
              </a:lnSpc>
              <a:buNone/>
            </a:pPr>
            <a:r>
              <a:rPr lang="en-US" sz="2650" dirty="0">
                <a:solidFill>
                  <a:srgbClr val="FFFFFF"/>
                </a:solidFill>
                <a:latin typeface="Nunito Semi Bold" pitchFamily="34" charset="0"/>
                <a:ea typeface="Nunito Semi Bold" pitchFamily="34" charset="-122"/>
                <a:cs typeface="Nunito Semi Bold" pitchFamily="34" charset="-120"/>
              </a:rPr>
              <a:t>1</a:t>
            </a:r>
            <a:endParaRPr lang="en-US" sz="2650" dirty="0"/>
          </a:p>
        </p:txBody>
      </p:sp>
      <p:sp>
        <p:nvSpPr>
          <p:cNvPr id="7" name="Text 3"/>
          <p:cNvSpPr/>
          <p:nvPr/>
        </p:nvSpPr>
        <p:spPr>
          <a:xfrm>
            <a:off x="1615559" y="3617000"/>
            <a:ext cx="6581537"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Nunito Semi Bold" pitchFamily="34" charset="0"/>
                <a:ea typeface="Nunito Semi Bold" pitchFamily="34" charset="-122"/>
                <a:cs typeface="Nunito Semi Bold" pitchFamily="34" charset="-120"/>
              </a:rPr>
              <a:t>Phase 1: Requirement Analysis and Data Collection</a:t>
            </a:r>
            <a:endParaRPr lang="en-US" sz="2200" dirty="0"/>
          </a:p>
        </p:txBody>
      </p:sp>
      <p:sp>
        <p:nvSpPr>
          <p:cNvPr id="8" name="Text 4"/>
          <p:cNvSpPr/>
          <p:nvPr/>
        </p:nvSpPr>
        <p:spPr>
          <a:xfrm>
            <a:off x="1615559" y="4112538"/>
            <a:ext cx="6690717" cy="766048"/>
          </a:xfrm>
          <a:prstGeom prst="rect">
            <a:avLst/>
          </a:prstGeom>
          <a:noFill/>
          <a:ln/>
        </p:spPr>
        <p:txBody>
          <a:bodyPr wrap="square" lIns="0" tIns="0" rIns="0" bIns="0" rtlCol="0" anchor="t"/>
          <a:lstStyle/>
          <a:p>
            <a:pPr marL="0" indent="0" algn="l">
              <a:lnSpc>
                <a:spcPts val="3000"/>
              </a:lnSpc>
              <a:buNone/>
            </a:pPr>
            <a:r>
              <a:rPr lang="en-US" sz="1850" dirty="0">
                <a:solidFill>
                  <a:srgbClr val="FFFFFF"/>
                </a:solidFill>
                <a:latin typeface="PT Sans" pitchFamily="34" charset="0"/>
                <a:ea typeface="PT Sans" pitchFamily="34" charset="-122"/>
                <a:cs typeface="PT Sans" pitchFamily="34" charset="-120"/>
              </a:rPr>
              <a:t>Week 1 focused on gathering necessary data and defining project requirements.</a:t>
            </a:r>
            <a:endParaRPr lang="en-US" sz="1850" dirty="0"/>
          </a:p>
        </p:txBody>
      </p:sp>
      <p:sp>
        <p:nvSpPr>
          <p:cNvPr id="9" name="Shape 5"/>
          <p:cNvSpPr/>
          <p:nvPr/>
        </p:nvSpPr>
        <p:spPr>
          <a:xfrm>
            <a:off x="837724" y="5387102"/>
            <a:ext cx="538520" cy="538520"/>
          </a:xfrm>
          <a:prstGeom prst="roundRect">
            <a:avLst>
              <a:gd name="adj" fmla="val 66677"/>
            </a:avLst>
          </a:prstGeom>
          <a:solidFill>
            <a:srgbClr val="00002E"/>
          </a:solidFill>
          <a:ln w="22860">
            <a:solidFill>
              <a:srgbClr val="D7425E"/>
            </a:solidFill>
            <a:prstDash val="solid"/>
          </a:ln>
        </p:spPr>
      </p:sp>
      <p:sp>
        <p:nvSpPr>
          <p:cNvPr id="10" name="Text 6"/>
          <p:cNvSpPr/>
          <p:nvPr/>
        </p:nvSpPr>
        <p:spPr>
          <a:xfrm>
            <a:off x="937974" y="5445085"/>
            <a:ext cx="337899" cy="422434"/>
          </a:xfrm>
          <a:prstGeom prst="rect">
            <a:avLst/>
          </a:prstGeom>
          <a:noFill/>
          <a:ln/>
        </p:spPr>
        <p:txBody>
          <a:bodyPr wrap="none" lIns="0" tIns="0" rIns="0" bIns="0" rtlCol="0" anchor="t"/>
          <a:lstStyle/>
          <a:p>
            <a:pPr marL="0" indent="0" algn="ctr">
              <a:lnSpc>
                <a:spcPts val="2650"/>
              </a:lnSpc>
              <a:buNone/>
            </a:pPr>
            <a:r>
              <a:rPr lang="en-US" sz="2650" dirty="0">
                <a:solidFill>
                  <a:srgbClr val="FFFFFF"/>
                </a:solidFill>
                <a:latin typeface="Nunito Semi Bold" pitchFamily="34" charset="0"/>
                <a:ea typeface="Nunito Semi Bold" pitchFamily="34" charset="-122"/>
                <a:cs typeface="Nunito Semi Bold" pitchFamily="34" charset="-120"/>
              </a:rPr>
              <a:t>2</a:t>
            </a:r>
            <a:endParaRPr lang="en-US" sz="2650" dirty="0"/>
          </a:p>
        </p:txBody>
      </p:sp>
      <p:sp>
        <p:nvSpPr>
          <p:cNvPr id="11" name="Text 7"/>
          <p:cNvSpPr/>
          <p:nvPr/>
        </p:nvSpPr>
        <p:spPr>
          <a:xfrm>
            <a:off x="1615559" y="5387102"/>
            <a:ext cx="4949547"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Nunito Semi Bold" pitchFamily="34" charset="0"/>
                <a:ea typeface="Nunito Semi Bold" pitchFamily="34" charset="-122"/>
                <a:cs typeface="Nunito Semi Bold" pitchFamily="34" charset="-120"/>
              </a:rPr>
              <a:t>Phase 2 to 6: Development to Delivery</a:t>
            </a:r>
            <a:endParaRPr lang="en-US" sz="2200" dirty="0"/>
          </a:p>
        </p:txBody>
      </p:sp>
      <p:sp>
        <p:nvSpPr>
          <p:cNvPr id="12" name="Text 8"/>
          <p:cNvSpPr/>
          <p:nvPr/>
        </p:nvSpPr>
        <p:spPr>
          <a:xfrm>
            <a:off x="1615559" y="5882640"/>
            <a:ext cx="6690717" cy="766048"/>
          </a:xfrm>
          <a:prstGeom prst="rect">
            <a:avLst/>
          </a:prstGeom>
          <a:noFill/>
          <a:ln/>
        </p:spPr>
        <p:txBody>
          <a:bodyPr wrap="square" lIns="0" tIns="0" rIns="0" bIns="0" rtlCol="0" anchor="t"/>
          <a:lstStyle/>
          <a:p>
            <a:pPr marL="0" indent="0" algn="l">
              <a:lnSpc>
                <a:spcPts val="3000"/>
              </a:lnSpc>
              <a:buNone/>
            </a:pPr>
            <a:r>
              <a:rPr lang="en-US" sz="1850" dirty="0">
                <a:solidFill>
                  <a:srgbClr val="FFFFFF"/>
                </a:solidFill>
                <a:latin typeface="PT Sans" pitchFamily="34" charset="0"/>
                <a:ea typeface="PT Sans" pitchFamily="34" charset="-122"/>
                <a:cs typeface="PT Sans" pitchFamily="34" charset="-120"/>
              </a:rPr>
              <a:t>Weeks 2-6 covered data preparation, model development, UI design, deployment, and final testing.</a:t>
            </a:r>
            <a:endParaRPr lang="en-US" sz="1850" dirty="0"/>
          </a:p>
        </p:txBody>
      </p:sp>
      <p:pic>
        <p:nvPicPr>
          <p:cNvPr id="13" name="Picture 12">
            <a:extLst>
              <a:ext uri="{FF2B5EF4-FFF2-40B4-BE49-F238E27FC236}">
                <a16:creationId xmlns:a16="http://schemas.microsoft.com/office/drawing/2014/main" id="{6A36A0B1-66A1-E3B7-8125-53DBACF83CA7}"/>
              </a:ext>
            </a:extLst>
          </p:cNvPr>
          <p:cNvPicPr>
            <a:picLocks noChangeAspect="1"/>
          </p:cNvPicPr>
          <p:nvPr/>
        </p:nvPicPr>
        <p:blipFill>
          <a:blip r:embed="rId3"/>
          <a:stretch>
            <a:fillRect/>
          </a:stretch>
        </p:blipFill>
        <p:spPr>
          <a:xfrm>
            <a:off x="7146776" y="7096685"/>
            <a:ext cx="7372350" cy="10287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43204" y="1670804"/>
            <a:ext cx="4887992" cy="4887992"/>
          </a:xfrm>
          <a:prstGeom prst="rect">
            <a:avLst/>
          </a:prstGeom>
        </p:spPr>
      </p:pic>
      <p:sp>
        <p:nvSpPr>
          <p:cNvPr id="4" name="Text 0"/>
          <p:cNvSpPr/>
          <p:nvPr/>
        </p:nvSpPr>
        <p:spPr>
          <a:xfrm>
            <a:off x="837724" y="660559"/>
            <a:ext cx="6135172" cy="704017"/>
          </a:xfrm>
          <a:prstGeom prst="rect">
            <a:avLst/>
          </a:prstGeom>
          <a:noFill/>
          <a:ln/>
        </p:spPr>
        <p:txBody>
          <a:bodyPr wrap="none" lIns="0" tIns="0" rIns="0" bIns="0" rtlCol="0" anchor="t"/>
          <a:lstStyle/>
          <a:p>
            <a:pPr marL="0" indent="0" algn="l">
              <a:lnSpc>
                <a:spcPts val="5500"/>
              </a:lnSpc>
              <a:buNone/>
            </a:pPr>
            <a:r>
              <a:rPr lang="en-US" sz="4400" dirty="0">
                <a:solidFill>
                  <a:srgbClr val="FFFFFF"/>
                </a:solidFill>
                <a:latin typeface="Nunito Semi Bold" pitchFamily="34" charset="0"/>
                <a:ea typeface="Nunito Semi Bold" pitchFamily="34" charset="-122"/>
                <a:cs typeface="Nunito Semi Bold" pitchFamily="34" charset="-120"/>
              </a:rPr>
              <a:t>Technologies and Setup</a:t>
            </a:r>
            <a:endParaRPr lang="en-US" sz="4400" dirty="0"/>
          </a:p>
        </p:txBody>
      </p:sp>
      <p:sp>
        <p:nvSpPr>
          <p:cNvPr id="5" name="Shape 1"/>
          <p:cNvSpPr/>
          <p:nvPr/>
        </p:nvSpPr>
        <p:spPr>
          <a:xfrm>
            <a:off x="837724" y="1723549"/>
            <a:ext cx="7468553" cy="2803088"/>
          </a:xfrm>
          <a:prstGeom prst="roundRect">
            <a:avLst>
              <a:gd name="adj" fmla="val 12810"/>
            </a:avLst>
          </a:prstGeom>
          <a:solidFill>
            <a:srgbClr val="00002E"/>
          </a:solidFill>
          <a:ln w="22860">
            <a:solidFill>
              <a:srgbClr val="F2B42D"/>
            </a:solidFill>
            <a:prstDash val="solid"/>
          </a:ln>
        </p:spPr>
      </p:sp>
      <p:sp>
        <p:nvSpPr>
          <p:cNvPr id="6" name="Text 2"/>
          <p:cNvSpPr/>
          <p:nvPr/>
        </p:nvSpPr>
        <p:spPr>
          <a:xfrm>
            <a:off x="1099899" y="1985724"/>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Nunito Semi Bold" pitchFamily="34" charset="0"/>
                <a:ea typeface="Nunito Semi Bold" pitchFamily="34" charset="-122"/>
                <a:cs typeface="Nunito Semi Bold" pitchFamily="34" charset="-120"/>
              </a:rPr>
              <a:t>Core Technologies</a:t>
            </a:r>
            <a:endParaRPr lang="en-US" sz="2200" dirty="0"/>
          </a:p>
        </p:txBody>
      </p:sp>
      <p:sp>
        <p:nvSpPr>
          <p:cNvPr id="7" name="Text 3"/>
          <p:cNvSpPr/>
          <p:nvPr/>
        </p:nvSpPr>
        <p:spPr>
          <a:xfrm>
            <a:off x="1099899" y="2481262"/>
            <a:ext cx="6944201"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FFFFF"/>
                </a:solidFill>
                <a:latin typeface="PT Sans" pitchFamily="34" charset="0"/>
                <a:ea typeface="PT Sans" pitchFamily="34" charset="-122"/>
                <a:cs typeface="PT Sans" pitchFamily="34" charset="-120"/>
              </a:rPr>
              <a:t>Streamlit for web interface</a:t>
            </a:r>
            <a:endParaRPr lang="en-US" sz="1850" dirty="0"/>
          </a:p>
        </p:txBody>
      </p:sp>
      <p:sp>
        <p:nvSpPr>
          <p:cNvPr id="8" name="Text 4"/>
          <p:cNvSpPr/>
          <p:nvPr/>
        </p:nvSpPr>
        <p:spPr>
          <a:xfrm>
            <a:off x="1099899" y="2947988"/>
            <a:ext cx="6944201"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FFFFF"/>
                </a:solidFill>
                <a:latin typeface="PT Sans" pitchFamily="34" charset="0"/>
                <a:ea typeface="PT Sans" pitchFamily="34" charset="-122"/>
                <a:cs typeface="PT Sans" pitchFamily="34" charset="-120"/>
              </a:rPr>
              <a:t>OpenCV for image processing</a:t>
            </a:r>
            <a:endParaRPr lang="en-US" sz="1850" dirty="0"/>
          </a:p>
        </p:txBody>
      </p:sp>
      <p:sp>
        <p:nvSpPr>
          <p:cNvPr id="9" name="Text 5"/>
          <p:cNvSpPr/>
          <p:nvPr/>
        </p:nvSpPr>
        <p:spPr>
          <a:xfrm>
            <a:off x="1099899" y="3414713"/>
            <a:ext cx="6944201"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FFFFF"/>
                </a:solidFill>
                <a:latin typeface="PT Sans" pitchFamily="34" charset="0"/>
                <a:ea typeface="PT Sans" pitchFamily="34" charset="-122"/>
                <a:cs typeface="PT Sans" pitchFamily="34" charset="-120"/>
              </a:rPr>
              <a:t>YOLO (Ultralytics) for tumor detection</a:t>
            </a:r>
            <a:endParaRPr lang="en-US" sz="1850" dirty="0"/>
          </a:p>
        </p:txBody>
      </p:sp>
      <p:sp>
        <p:nvSpPr>
          <p:cNvPr id="10" name="Text 6"/>
          <p:cNvSpPr/>
          <p:nvPr/>
        </p:nvSpPr>
        <p:spPr>
          <a:xfrm>
            <a:off x="1099899" y="3881438"/>
            <a:ext cx="6944201"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FFFFF"/>
                </a:solidFill>
                <a:latin typeface="PT Sans" pitchFamily="34" charset="0"/>
                <a:ea typeface="PT Sans" pitchFamily="34" charset="-122"/>
                <a:cs typeface="PT Sans" pitchFamily="34" charset="-120"/>
              </a:rPr>
              <a:t>FPDF for PDF report generation</a:t>
            </a:r>
            <a:endParaRPr lang="en-US" sz="1850" dirty="0"/>
          </a:p>
        </p:txBody>
      </p:sp>
      <p:sp>
        <p:nvSpPr>
          <p:cNvPr id="11" name="Shape 7"/>
          <p:cNvSpPr/>
          <p:nvPr/>
        </p:nvSpPr>
        <p:spPr>
          <a:xfrm>
            <a:off x="837724" y="4765953"/>
            <a:ext cx="7468553" cy="2803088"/>
          </a:xfrm>
          <a:prstGeom prst="roundRect">
            <a:avLst>
              <a:gd name="adj" fmla="val 12810"/>
            </a:avLst>
          </a:prstGeom>
          <a:solidFill>
            <a:srgbClr val="00002E"/>
          </a:solidFill>
          <a:ln w="22860">
            <a:solidFill>
              <a:srgbClr val="D7425E"/>
            </a:solidFill>
            <a:prstDash val="solid"/>
          </a:ln>
        </p:spPr>
      </p:sp>
      <p:sp>
        <p:nvSpPr>
          <p:cNvPr id="12" name="Text 8"/>
          <p:cNvSpPr/>
          <p:nvPr/>
        </p:nvSpPr>
        <p:spPr>
          <a:xfrm>
            <a:off x="1099899" y="5028128"/>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Nunito Semi Bold" pitchFamily="34" charset="0"/>
                <a:ea typeface="Nunito Semi Bold" pitchFamily="34" charset="-122"/>
                <a:cs typeface="Nunito Semi Bold" pitchFamily="34" charset="-120"/>
              </a:rPr>
              <a:t>Installation Steps</a:t>
            </a:r>
            <a:endParaRPr lang="en-US" sz="2200" dirty="0"/>
          </a:p>
        </p:txBody>
      </p:sp>
      <p:sp>
        <p:nvSpPr>
          <p:cNvPr id="13" name="Text 9"/>
          <p:cNvSpPr/>
          <p:nvPr/>
        </p:nvSpPr>
        <p:spPr>
          <a:xfrm>
            <a:off x="1099899" y="5523667"/>
            <a:ext cx="6944201"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FFFFF"/>
                </a:solidFill>
                <a:latin typeface="PT Sans" pitchFamily="34" charset="0"/>
                <a:ea typeface="PT Sans" pitchFamily="34" charset="-122"/>
                <a:cs typeface="PT Sans" pitchFamily="34" charset="-120"/>
              </a:rPr>
              <a:t>Clone repository from GitHub</a:t>
            </a:r>
            <a:endParaRPr lang="en-US" sz="1850" dirty="0"/>
          </a:p>
        </p:txBody>
      </p:sp>
      <p:sp>
        <p:nvSpPr>
          <p:cNvPr id="14" name="Text 10"/>
          <p:cNvSpPr/>
          <p:nvPr/>
        </p:nvSpPr>
        <p:spPr>
          <a:xfrm>
            <a:off x="1099899" y="5990392"/>
            <a:ext cx="6944201"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FFFFF"/>
                </a:solidFill>
                <a:latin typeface="PT Sans" pitchFamily="34" charset="0"/>
                <a:ea typeface="PT Sans" pitchFamily="34" charset="-122"/>
                <a:cs typeface="PT Sans" pitchFamily="34" charset="-120"/>
              </a:rPr>
              <a:t>Create virtual environment</a:t>
            </a:r>
            <a:endParaRPr lang="en-US" sz="1850" dirty="0"/>
          </a:p>
        </p:txBody>
      </p:sp>
      <p:sp>
        <p:nvSpPr>
          <p:cNvPr id="15" name="Text 11"/>
          <p:cNvSpPr/>
          <p:nvPr/>
        </p:nvSpPr>
        <p:spPr>
          <a:xfrm>
            <a:off x="1099899" y="6457117"/>
            <a:ext cx="6944201"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FFFFF"/>
                </a:solidFill>
                <a:latin typeface="PT Sans" pitchFamily="34" charset="0"/>
                <a:ea typeface="PT Sans" pitchFamily="34" charset="-122"/>
                <a:cs typeface="PT Sans" pitchFamily="34" charset="-120"/>
              </a:rPr>
              <a:t>Install dependencies via pip</a:t>
            </a:r>
            <a:endParaRPr lang="en-US" sz="1850" dirty="0"/>
          </a:p>
        </p:txBody>
      </p:sp>
      <p:sp>
        <p:nvSpPr>
          <p:cNvPr id="16" name="Text 12"/>
          <p:cNvSpPr/>
          <p:nvPr/>
        </p:nvSpPr>
        <p:spPr>
          <a:xfrm>
            <a:off x="1099899" y="6923842"/>
            <a:ext cx="6944201"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FFFFF"/>
                </a:solidFill>
                <a:latin typeface="PT Sans" pitchFamily="34" charset="0"/>
                <a:ea typeface="PT Sans" pitchFamily="34" charset="-122"/>
                <a:cs typeface="PT Sans" pitchFamily="34" charset="-120"/>
              </a:rPr>
              <a:t>Run the app using Streamlit</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07946" y="556141"/>
            <a:ext cx="7053858" cy="594836"/>
          </a:xfrm>
          <a:prstGeom prst="rect">
            <a:avLst/>
          </a:prstGeom>
          <a:noFill/>
          <a:ln/>
        </p:spPr>
        <p:txBody>
          <a:bodyPr wrap="none" lIns="0" tIns="0" rIns="0" bIns="0" rtlCol="0" anchor="t"/>
          <a:lstStyle/>
          <a:p>
            <a:pPr marL="0" indent="0" algn="l">
              <a:lnSpc>
                <a:spcPts val="4650"/>
              </a:lnSpc>
              <a:buNone/>
            </a:pPr>
            <a:r>
              <a:rPr lang="en-US" sz="3700" dirty="0">
                <a:solidFill>
                  <a:srgbClr val="FFFFFF"/>
                </a:solidFill>
                <a:latin typeface="Nunito Semi Bold" pitchFamily="34" charset="0"/>
                <a:ea typeface="Nunito Semi Bold" pitchFamily="34" charset="-122"/>
                <a:cs typeface="Nunito Semi Bold" pitchFamily="34" charset="-120"/>
              </a:rPr>
              <a:t>Model Training and Performance</a:t>
            </a:r>
            <a:endParaRPr lang="en-US" sz="3700" dirty="0"/>
          </a:p>
        </p:txBody>
      </p:sp>
      <p:pic>
        <p:nvPicPr>
          <p:cNvPr id="3" name="Image 0" descr="preencoded.png"/>
          <p:cNvPicPr>
            <a:picLocks noChangeAspect="1"/>
          </p:cNvPicPr>
          <p:nvPr/>
        </p:nvPicPr>
        <p:blipFill>
          <a:blip r:embed="rId3"/>
          <a:stretch>
            <a:fillRect/>
          </a:stretch>
        </p:blipFill>
        <p:spPr>
          <a:xfrm>
            <a:off x="707946" y="1394068"/>
            <a:ext cx="5401684" cy="3885302"/>
          </a:xfrm>
          <a:prstGeom prst="rect">
            <a:avLst/>
          </a:prstGeom>
          <a:ln>
            <a:noFill/>
          </a:ln>
          <a:effectLst>
            <a:softEdge rad="112500"/>
          </a:effectLst>
        </p:spPr>
      </p:pic>
      <p:sp>
        <p:nvSpPr>
          <p:cNvPr id="4" name="Text 1"/>
          <p:cNvSpPr/>
          <p:nvPr/>
        </p:nvSpPr>
        <p:spPr>
          <a:xfrm>
            <a:off x="707946" y="5429369"/>
            <a:ext cx="2379583" cy="297418"/>
          </a:xfrm>
          <a:prstGeom prst="rect">
            <a:avLst/>
          </a:prstGeom>
          <a:noFill/>
          <a:ln/>
        </p:spPr>
        <p:txBody>
          <a:bodyPr wrap="none" lIns="0" tIns="0" rIns="0" bIns="0" rtlCol="0" anchor="t"/>
          <a:lstStyle/>
          <a:p>
            <a:pPr marL="0" indent="0" algn="l">
              <a:lnSpc>
                <a:spcPts val="2300"/>
              </a:lnSpc>
              <a:buNone/>
            </a:pPr>
            <a:r>
              <a:rPr lang="en-US" sz="1850" dirty="0">
                <a:solidFill>
                  <a:srgbClr val="FFFFFF"/>
                </a:solidFill>
                <a:latin typeface="Nunito Semi Bold" pitchFamily="34" charset="0"/>
                <a:ea typeface="Nunito Semi Bold" pitchFamily="34" charset="-122"/>
                <a:cs typeface="Nunito Semi Bold" pitchFamily="34" charset="-120"/>
              </a:rPr>
              <a:t>Training Details</a:t>
            </a:r>
            <a:endParaRPr lang="en-US" sz="1850" dirty="0"/>
          </a:p>
        </p:txBody>
      </p:sp>
      <p:sp>
        <p:nvSpPr>
          <p:cNvPr id="5" name="Text 2"/>
          <p:cNvSpPr/>
          <p:nvPr/>
        </p:nvSpPr>
        <p:spPr>
          <a:xfrm>
            <a:off x="707946" y="5928955"/>
            <a:ext cx="6360557" cy="647224"/>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PT Sans" pitchFamily="34" charset="0"/>
                <a:ea typeface="PT Sans" pitchFamily="34" charset="-122"/>
                <a:cs typeface="PT Sans" pitchFamily="34" charset="-120"/>
              </a:rPr>
              <a:t>YOLOv11m model fine-tuned on 1500+ MRI scans over 20 epochs, achieving high accuracy and efficiency.</a:t>
            </a:r>
            <a:endParaRPr lang="en-US" sz="1550" dirty="0"/>
          </a:p>
        </p:txBody>
      </p:sp>
      <p:sp>
        <p:nvSpPr>
          <p:cNvPr id="6" name="Text 3"/>
          <p:cNvSpPr/>
          <p:nvPr/>
        </p:nvSpPr>
        <p:spPr>
          <a:xfrm>
            <a:off x="707946" y="6758107"/>
            <a:ext cx="6360557" cy="323612"/>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FFFFFF"/>
                </a:solidFill>
                <a:latin typeface="PT Sans" pitchFamily="34" charset="0"/>
                <a:ea typeface="PT Sans" pitchFamily="34" charset="-122"/>
                <a:cs typeface="PT Sans" pitchFamily="34" charset="-120"/>
              </a:rPr>
              <a:t>125 layers, 20M parameters</a:t>
            </a:r>
            <a:endParaRPr lang="en-US" sz="1550" dirty="0"/>
          </a:p>
        </p:txBody>
      </p:sp>
      <p:sp>
        <p:nvSpPr>
          <p:cNvPr id="7" name="Text 4"/>
          <p:cNvSpPr/>
          <p:nvPr/>
        </p:nvSpPr>
        <p:spPr>
          <a:xfrm>
            <a:off x="707946" y="7152442"/>
            <a:ext cx="6360557" cy="323612"/>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FFFFFF"/>
                </a:solidFill>
                <a:latin typeface="PT Sans" pitchFamily="34" charset="0"/>
                <a:ea typeface="PT Sans" pitchFamily="34" charset="-122"/>
                <a:cs typeface="PT Sans" pitchFamily="34" charset="-120"/>
              </a:rPr>
              <a:t>Training time: 0.668 hours</a:t>
            </a:r>
            <a:endParaRPr lang="en-US" sz="1550" dirty="0"/>
          </a:p>
        </p:txBody>
      </p:sp>
      <p:sp>
        <p:nvSpPr>
          <p:cNvPr id="8" name="Text 5"/>
          <p:cNvSpPr/>
          <p:nvPr/>
        </p:nvSpPr>
        <p:spPr>
          <a:xfrm>
            <a:off x="707946" y="7546777"/>
            <a:ext cx="6360557" cy="323612"/>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FFFFFF"/>
                </a:solidFill>
                <a:latin typeface="PT Sans" pitchFamily="34" charset="0"/>
                <a:ea typeface="PT Sans" pitchFamily="34" charset="-122"/>
                <a:cs typeface="PT Sans" pitchFamily="34" charset="-120"/>
              </a:rPr>
              <a:t>Inference time: 24.9ms per image</a:t>
            </a:r>
            <a:endParaRPr lang="en-US" sz="1550" dirty="0"/>
          </a:p>
        </p:txBody>
      </p:sp>
      <p:sp>
        <p:nvSpPr>
          <p:cNvPr id="9" name="Text 6"/>
          <p:cNvSpPr/>
          <p:nvPr/>
        </p:nvSpPr>
        <p:spPr>
          <a:xfrm>
            <a:off x="7569517" y="5429369"/>
            <a:ext cx="2379583" cy="297418"/>
          </a:xfrm>
          <a:prstGeom prst="rect">
            <a:avLst/>
          </a:prstGeom>
          <a:noFill/>
          <a:ln/>
        </p:spPr>
        <p:txBody>
          <a:bodyPr wrap="none" lIns="0" tIns="0" rIns="0" bIns="0" rtlCol="0" anchor="t"/>
          <a:lstStyle/>
          <a:p>
            <a:pPr marL="0" indent="0" algn="l">
              <a:lnSpc>
                <a:spcPts val="2300"/>
              </a:lnSpc>
              <a:buNone/>
            </a:pPr>
            <a:r>
              <a:rPr lang="en-US" sz="1850" dirty="0">
                <a:solidFill>
                  <a:srgbClr val="FFFFFF"/>
                </a:solidFill>
                <a:latin typeface="Nunito Semi Bold" pitchFamily="34" charset="0"/>
                <a:ea typeface="Nunito Semi Bold" pitchFamily="34" charset="-122"/>
                <a:cs typeface="Nunito Semi Bold" pitchFamily="34" charset="-120"/>
              </a:rPr>
              <a:t>Performance Metrics</a:t>
            </a:r>
            <a:endParaRPr lang="en-US" sz="1850" dirty="0"/>
          </a:p>
        </p:txBody>
      </p:sp>
      <p:sp>
        <p:nvSpPr>
          <p:cNvPr id="10" name="Text 7"/>
          <p:cNvSpPr/>
          <p:nvPr/>
        </p:nvSpPr>
        <p:spPr>
          <a:xfrm>
            <a:off x="7569517" y="5928955"/>
            <a:ext cx="6360557" cy="323612"/>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FFFFFF"/>
                </a:solidFill>
                <a:latin typeface="PT Sans" pitchFamily="34" charset="0"/>
                <a:ea typeface="PT Sans" pitchFamily="34" charset="-122"/>
                <a:cs typeface="PT Sans" pitchFamily="34" charset="-120"/>
              </a:rPr>
              <a:t>mAP@50: 92.1%</a:t>
            </a:r>
            <a:endParaRPr lang="en-US" sz="1550" dirty="0"/>
          </a:p>
        </p:txBody>
      </p:sp>
      <p:sp>
        <p:nvSpPr>
          <p:cNvPr id="11" name="Text 8"/>
          <p:cNvSpPr/>
          <p:nvPr/>
        </p:nvSpPr>
        <p:spPr>
          <a:xfrm>
            <a:off x="7569517" y="6323290"/>
            <a:ext cx="6360557" cy="323612"/>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FFFFFF"/>
                </a:solidFill>
                <a:latin typeface="PT Sans" pitchFamily="34" charset="0"/>
                <a:ea typeface="PT Sans" pitchFamily="34" charset="-122"/>
                <a:cs typeface="PT Sans" pitchFamily="34" charset="-120"/>
              </a:rPr>
              <a:t>Precision: 91.4%</a:t>
            </a:r>
            <a:endParaRPr lang="en-US" sz="1550" dirty="0"/>
          </a:p>
        </p:txBody>
      </p:sp>
      <p:sp>
        <p:nvSpPr>
          <p:cNvPr id="12" name="Text 9"/>
          <p:cNvSpPr/>
          <p:nvPr/>
        </p:nvSpPr>
        <p:spPr>
          <a:xfrm>
            <a:off x="7569517" y="6717625"/>
            <a:ext cx="6360557" cy="323612"/>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FFFFFF"/>
                </a:solidFill>
                <a:latin typeface="PT Sans" pitchFamily="34" charset="0"/>
                <a:ea typeface="PT Sans" pitchFamily="34" charset="-122"/>
                <a:cs typeface="PT Sans" pitchFamily="34" charset="-120"/>
              </a:rPr>
              <a:t>Recall: 87.4%</a:t>
            </a:r>
            <a:endParaRPr lang="en-US" sz="1550" dirty="0"/>
          </a:p>
        </p:txBody>
      </p:sp>
      <p:sp>
        <p:nvSpPr>
          <p:cNvPr id="13" name="Text 10"/>
          <p:cNvSpPr/>
          <p:nvPr/>
        </p:nvSpPr>
        <p:spPr>
          <a:xfrm>
            <a:off x="7569517" y="7111960"/>
            <a:ext cx="6360557" cy="323612"/>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FFFFFF"/>
                </a:solidFill>
                <a:latin typeface="PT Sans" pitchFamily="34" charset="0"/>
                <a:ea typeface="PT Sans" pitchFamily="34" charset="-122"/>
                <a:cs typeface="PT Sans" pitchFamily="34" charset="-120"/>
              </a:rPr>
              <a:t>Model weights size: 40.5MB</a:t>
            </a:r>
            <a:endParaRPr lang="en-US" sz="1550" dirty="0"/>
          </a:p>
        </p:txBody>
      </p:sp>
      <p:pic>
        <p:nvPicPr>
          <p:cNvPr id="15" name="Picture 14">
            <a:extLst>
              <a:ext uri="{FF2B5EF4-FFF2-40B4-BE49-F238E27FC236}">
                <a16:creationId xmlns:a16="http://schemas.microsoft.com/office/drawing/2014/main" id="{A8891C1F-F120-EA5F-EB2F-537F18640FB9}"/>
              </a:ext>
            </a:extLst>
          </p:cNvPr>
          <p:cNvPicPr>
            <a:picLocks noChangeAspect="1"/>
          </p:cNvPicPr>
          <p:nvPr/>
        </p:nvPicPr>
        <p:blipFill>
          <a:blip r:embed="rId4"/>
          <a:stretch>
            <a:fillRect/>
          </a:stretch>
        </p:blipFill>
        <p:spPr>
          <a:xfrm>
            <a:off x="7189806" y="7613052"/>
            <a:ext cx="7345456" cy="50695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917167" y="2643471"/>
            <a:ext cx="7331338" cy="407637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Text 0"/>
          <p:cNvSpPr/>
          <p:nvPr/>
        </p:nvSpPr>
        <p:spPr>
          <a:xfrm>
            <a:off x="411494" y="490335"/>
            <a:ext cx="6327457" cy="445294"/>
          </a:xfrm>
          <a:prstGeom prst="rect">
            <a:avLst/>
          </a:prstGeom>
          <a:noFill/>
          <a:ln/>
        </p:spPr>
        <p:txBody>
          <a:bodyPr wrap="none" lIns="0" tIns="0" rIns="0" bIns="0" rtlCol="0" anchor="t"/>
          <a:lstStyle/>
          <a:p>
            <a:pPr marL="0" indent="0" algn="l">
              <a:lnSpc>
                <a:spcPts val="3500"/>
              </a:lnSpc>
              <a:buNone/>
            </a:pPr>
            <a:r>
              <a:rPr lang="en-US" sz="2800" dirty="0">
                <a:solidFill>
                  <a:srgbClr val="FFFFFF"/>
                </a:solidFill>
                <a:latin typeface="Nunito Semi Bold" pitchFamily="34" charset="0"/>
                <a:ea typeface="Nunito Semi Bold" pitchFamily="34" charset="-122"/>
                <a:cs typeface="Nunito Semi Bold" pitchFamily="34" charset="-120"/>
              </a:rPr>
              <a:t>Model Architecture and System Design</a:t>
            </a:r>
            <a:endParaRPr lang="en-US" sz="2800" dirty="0"/>
          </a:p>
        </p:txBody>
      </p:sp>
      <p:sp>
        <p:nvSpPr>
          <p:cNvPr id="4" name="Shape 1"/>
          <p:cNvSpPr/>
          <p:nvPr/>
        </p:nvSpPr>
        <p:spPr>
          <a:xfrm>
            <a:off x="592512" y="1033589"/>
            <a:ext cx="15240" cy="3887272"/>
          </a:xfrm>
          <a:prstGeom prst="roundRect">
            <a:avLst>
              <a:gd name="adj" fmla="val 1490196"/>
            </a:avLst>
          </a:prstGeom>
          <a:solidFill>
            <a:srgbClr val="FFFFFF">
              <a:alpha val="24000"/>
            </a:srgbClr>
          </a:solidFill>
          <a:ln/>
        </p:spPr>
      </p:sp>
      <p:sp>
        <p:nvSpPr>
          <p:cNvPr id="5" name="Shape 2"/>
          <p:cNvSpPr/>
          <p:nvPr/>
        </p:nvSpPr>
        <p:spPr>
          <a:xfrm>
            <a:off x="747590" y="1366487"/>
            <a:ext cx="454104" cy="15240"/>
          </a:xfrm>
          <a:prstGeom prst="roundRect">
            <a:avLst>
              <a:gd name="adj" fmla="val 1490196"/>
            </a:avLst>
          </a:prstGeom>
          <a:solidFill>
            <a:srgbClr val="F2B42D"/>
          </a:solidFill>
          <a:ln/>
        </p:spPr>
      </p:sp>
      <p:sp>
        <p:nvSpPr>
          <p:cNvPr id="6" name="Shape 3"/>
          <p:cNvSpPr/>
          <p:nvPr/>
        </p:nvSpPr>
        <p:spPr>
          <a:xfrm>
            <a:off x="422193" y="1203848"/>
            <a:ext cx="340638" cy="340638"/>
          </a:xfrm>
          <a:prstGeom prst="roundRect">
            <a:avLst>
              <a:gd name="adj" fmla="val 66671"/>
            </a:avLst>
          </a:prstGeom>
          <a:solidFill>
            <a:srgbClr val="00002E"/>
          </a:solidFill>
          <a:ln w="15240">
            <a:solidFill>
              <a:srgbClr val="F2B42D"/>
            </a:solidFill>
            <a:prstDash val="solid"/>
          </a:ln>
        </p:spPr>
      </p:sp>
      <p:sp>
        <p:nvSpPr>
          <p:cNvPr id="7" name="Text 4"/>
          <p:cNvSpPr/>
          <p:nvPr/>
        </p:nvSpPr>
        <p:spPr>
          <a:xfrm>
            <a:off x="485593" y="1240519"/>
            <a:ext cx="213717" cy="267176"/>
          </a:xfrm>
          <a:prstGeom prst="rect">
            <a:avLst/>
          </a:prstGeom>
          <a:noFill/>
          <a:ln/>
        </p:spPr>
        <p:txBody>
          <a:bodyPr wrap="none" lIns="0" tIns="0" rIns="0" bIns="0" rtlCol="0" anchor="t"/>
          <a:lstStyle/>
          <a:p>
            <a:pPr marL="0" indent="0" algn="ctr">
              <a:lnSpc>
                <a:spcPts val="1650"/>
              </a:lnSpc>
              <a:buNone/>
            </a:pPr>
            <a:r>
              <a:rPr lang="en-US" sz="1650" dirty="0">
                <a:solidFill>
                  <a:srgbClr val="FFFFFF"/>
                </a:solidFill>
                <a:latin typeface="Nunito Semi Bold" pitchFamily="34" charset="0"/>
                <a:ea typeface="Nunito Semi Bold" pitchFamily="34" charset="-122"/>
                <a:cs typeface="Nunito Semi Bold" pitchFamily="34" charset="-120"/>
              </a:rPr>
              <a:t>1</a:t>
            </a:r>
            <a:endParaRPr lang="en-US" sz="1650" dirty="0"/>
          </a:p>
        </p:txBody>
      </p:sp>
      <p:sp>
        <p:nvSpPr>
          <p:cNvPr id="8" name="Text 5"/>
          <p:cNvSpPr/>
          <p:nvPr/>
        </p:nvSpPr>
        <p:spPr>
          <a:xfrm>
            <a:off x="1338753" y="1314009"/>
            <a:ext cx="1781175" cy="222647"/>
          </a:xfrm>
          <a:prstGeom prst="rect">
            <a:avLst/>
          </a:prstGeom>
          <a:noFill/>
          <a:ln/>
        </p:spPr>
        <p:txBody>
          <a:bodyPr wrap="none" lIns="0" tIns="0" rIns="0" bIns="0" rtlCol="0" anchor="t"/>
          <a:lstStyle/>
          <a:p>
            <a:pPr marL="0" indent="0" algn="l">
              <a:lnSpc>
                <a:spcPts val="1750"/>
              </a:lnSpc>
              <a:buNone/>
            </a:pPr>
            <a:r>
              <a:rPr lang="en-US" sz="1400" dirty="0">
                <a:solidFill>
                  <a:srgbClr val="FFFFFF"/>
                </a:solidFill>
                <a:latin typeface="Nunito Semi Bold" pitchFamily="34" charset="0"/>
                <a:ea typeface="Nunito Semi Bold" pitchFamily="34" charset="-122"/>
                <a:cs typeface="Nunito Semi Bold" pitchFamily="34" charset="-120"/>
              </a:rPr>
              <a:t>Data Input Module</a:t>
            </a:r>
            <a:endParaRPr lang="en-US" sz="1400" dirty="0"/>
          </a:p>
        </p:txBody>
      </p:sp>
      <p:sp>
        <p:nvSpPr>
          <p:cNvPr id="9" name="Text 6"/>
          <p:cNvSpPr/>
          <p:nvPr/>
        </p:nvSpPr>
        <p:spPr>
          <a:xfrm>
            <a:off x="1338753" y="1627382"/>
            <a:ext cx="12643485" cy="242292"/>
          </a:xfrm>
          <a:prstGeom prst="rect">
            <a:avLst/>
          </a:prstGeom>
          <a:noFill/>
          <a:ln/>
        </p:spPr>
        <p:txBody>
          <a:bodyPr wrap="none" lIns="0" tIns="0" rIns="0" bIns="0" rtlCol="0" anchor="t"/>
          <a:lstStyle/>
          <a:p>
            <a:pPr marL="0" indent="0" algn="l">
              <a:lnSpc>
                <a:spcPts val="1900"/>
              </a:lnSpc>
              <a:buNone/>
            </a:pPr>
            <a:r>
              <a:rPr lang="en-US" sz="1150" dirty="0">
                <a:solidFill>
                  <a:srgbClr val="FFFFFF"/>
                </a:solidFill>
                <a:latin typeface="PT Sans" pitchFamily="34" charset="0"/>
                <a:ea typeface="PT Sans" pitchFamily="34" charset="-122"/>
                <a:cs typeface="PT Sans" pitchFamily="34" charset="-120"/>
              </a:rPr>
              <a:t>Handles MRI scan uploads and preprocessing.</a:t>
            </a:r>
            <a:endParaRPr lang="en-US" sz="1150" dirty="0"/>
          </a:p>
        </p:txBody>
      </p:sp>
      <p:sp>
        <p:nvSpPr>
          <p:cNvPr id="10" name="Shape 7"/>
          <p:cNvSpPr/>
          <p:nvPr/>
        </p:nvSpPr>
        <p:spPr>
          <a:xfrm>
            <a:off x="747590" y="2376137"/>
            <a:ext cx="454104" cy="15240"/>
          </a:xfrm>
          <a:prstGeom prst="roundRect">
            <a:avLst>
              <a:gd name="adj" fmla="val 1490196"/>
            </a:avLst>
          </a:prstGeom>
          <a:solidFill>
            <a:srgbClr val="D7425E"/>
          </a:solidFill>
          <a:ln/>
        </p:spPr>
      </p:sp>
      <p:sp>
        <p:nvSpPr>
          <p:cNvPr id="11" name="Shape 8"/>
          <p:cNvSpPr/>
          <p:nvPr/>
        </p:nvSpPr>
        <p:spPr>
          <a:xfrm>
            <a:off x="422193" y="2213498"/>
            <a:ext cx="340638" cy="340638"/>
          </a:xfrm>
          <a:prstGeom prst="roundRect">
            <a:avLst>
              <a:gd name="adj" fmla="val 66671"/>
            </a:avLst>
          </a:prstGeom>
          <a:solidFill>
            <a:srgbClr val="00002E"/>
          </a:solidFill>
          <a:ln w="15240">
            <a:solidFill>
              <a:srgbClr val="D7425E"/>
            </a:solidFill>
            <a:prstDash val="solid"/>
          </a:ln>
        </p:spPr>
      </p:sp>
      <p:sp>
        <p:nvSpPr>
          <p:cNvPr id="12" name="Text 9"/>
          <p:cNvSpPr/>
          <p:nvPr/>
        </p:nvSpPr>
        <p:spPr>
          <a:xfrm>
            <a:off x="485593" y="2250169"/>
            <a:ext cx="213717" cy="267176"/>
          </a:xfrm>
          <a:prstGeom prst="rect">
            <a:avLst/>
          </a:prstGeom>
          <a:noFill/>
          <a:ln/>
        </p:spPr>
        <p:txBody>
          <a:bodyPr wrap="none" lIns="0" tIns="0" rIns="0" bIns="0" rtlCol="0" anchor="t"/>
          <a:lstStyle/>
          <a:p>
            <a:pPr marL="0" indent="0" algn="ctr">
              <a:lnSpc>
                <a:spcPts val="1650"/>
              </a:lnSpc>
              <a:buNone/>
            </a:pPr>
            <a:r>
              <a:rPr lang="en-US" sz="1650" dirty="0">
                <a:solidFill>
                  <a:srgbClr val="FFFFFF"/>
                </a:solidFill>
                <a:latin typeface="Nunito Semi Bold" pitchFamily="34" charset="0"/>
                <a:ea typeface="Nunito Semi Bold" pitchFamily="34" charset="-122"/>
                <a:cs typeface="Nunito Semi Bold" pitchFamily="34" charset="-120"/>
              </a:rPr>
              <a:t>2</a:t>
            </a:r>
            <a:endParaRPr lang="en-US" sz="1650" dirty="0"/>
          </a:p>
        </p:txBody>
      </p:sp>
      <p:sp>
        <p:nvSpPr>
          <p:cNvPr id="13" name="Text 10"/>
          <p:cNvSpPr/>
          <p:nvPr/>
        </p:nvSpPr>
        <p:spPr>
          <a:xfrm>
            <a:off x="1338753" y="2323659"/>
            <a:ext cx="1781175" cy="222647"/>
          </a:xfrm>
          <a:prstGeom prst="rect">
            <a:avLst/>
          </a:prstGeom>
          <a:noFill/>
          <a:ln/>
        </p:spPr>
        <p:txBody>
          <a:bodyPr wrap="none" lIns="0" tIns="0" rIns="0" bIns="0" rtlCol="0" anchor="t"/>
          <a:lstStyle/>
          <a:p>
            <a:pPr marL="0" indent="0" algn="l">
              <a:lnSpc>
                <a:spcPts val="1750"/>
              </a:lnSpc>
              <a:buNone/>
            </a:pPr>
            <a:r>
              <a:rPr lang="en-US" sz="1400" dirty="0">
                <a:solidFill>
                  <a:srgbClr val="FFFFFF"/>
                </a:solidFill>
                <a:latin typeface="Nunito Semi Bold" pitchFamily="34" charset="0"/>
                <a:ea typeface="Nunito Semi Bold" pitchFamily="34" charset="-122"/>
                <a:cs typeface="Nunito Semi Bold" pitchFamily="34" charset="-120"/>
              </a:rPr>
              <a:t>Detection Engine</a:t>
            </a:r>
            <a:endParaRPr lang="en-US" sz="1400" dirty="0"/>
          </a:p>
        </p:txBody>
      </p:sp>
      <p:sp>
        <p:nvSpPr>
          <p:cNvPr id="14" name="Text 11"/>
          <p:cNvSpPr/>
          <p:nvPr/>
        </p:nvSpPr>
        <p:spPr>
          <a:xfrm>
            <a:off x="1338753" y="2637032"/>
            <a:ext cx="12643485" cy="242292"/>
          </a:xfrm>
          <a:prstGeom prst="rect">
            <a:avLst/>
          </a:prstGeom>
          <a:noFill/>
          <a:ln/>
        </p:spPr>
        <p:txBody>
          <a:bodyPr wrap="none" lIns="0" tIns="0" rIns="0" bIns="0" rtlCol="0" anchor="t"/>
          <a:lstStyle/>
          <a:p>
            <a:pPr marL="0" indent="0" algn="l">
              <a:lnSpc>
                <a:spcPts val="1900"/>
              </a:lnSpc>
              <a:buNone/>
            </a:pPr>
            <a:r>
              <a:rPr lang="en-US" sz="1150" dirty="0">
                <a:solidFill>
                  <a:srgbClr val="FFFFFF"/>
                </a:solidFill>
                <a:latin typeface="PT Sans" pitchFamily="34" charset="0"/>
                <a:ea typeface="PT Sans" pitchFamily="34" charset="-122"/>
                <a:cs typeface="PT Sans" pitchFamily="34" charset="-120"/>
              </a:rPr>
              <a:t>Performs tumor detection using the YOLOv11m model.</a:t>
            </a:r>
            <a:endParaRPr lang="en-US" sz="1150" dirty="0"/>
          </a:p>
        </p:txBody>
      </p:sp>
      <p:sp>
        <p:nvSpPr>
          <p:cNvPr id="15" name="Shape 12"/>
          <p:cNvSpPr/>
          <p:nvPr/>
        </p:nvSpPr>
        <p:spPr>
          <a:xfrm>
            <a:off x="747590" y="3385787"/>
            <a:ext cx="454104" cy="15240"/>
          </a:xfrm>
          <a:prstGeom prst="roundRect">
            <a:avLst>
              <a:gd name="adj" fmla="val 1490196"/>
            </a:avLst>
          </a:prstGeom>
          <a:solidFill>
            <a:srgbClr val="DD785E"/>
          </a:solidFill>
          <a:ln/>
        </p:spPr>
      </p:sp>
      <p:sp>
        <p:nvSpPr>
          <p:cNvPr id="16" name="Shape 13"/>
          <p:cNvSpPr/>
          <p:nvPr/>
        </p:nvSpPr>
        <p:spPr>
          <a:xfrm>
            <a:off x="422193" y="3223148"/>
            <a:ext cx="340638" cy="340638"/>
          </a:xfrm>
          <a:prstGeom prst="roundRect">
            <a:avLst>
              <a:gd name="adj" fmla="val 66671"/>
            </a:avLst>
          </a:prstGeom>
          <a:solidFill>
            <a:srgbClr val="00002E"/>
          </a:solidFill>
          <a:ln w="15240">
            <a:solidFill>
              <a:srgbClr val="DD785E"/>
            </a:solidFill>
            <a:prstDash val="solid"/>
          </a:ln>
        </p:spPr>
      </p:sp>
      <p:sp>
        <p:nvSpPr>
          <p:cNvPr id="17" name="Text 14"/>
          <p:cNvSpPr/>
          <p:nvPr/>
        </p:nvSpPr>
        <p:spPr>
          <a:xfrm>
            <a:off x="485593" y="3259819"/>
            <a:ext cx="213717" cy="267176"/>
          </a:xfrm>
          <a:prstGeom prst="rect">
            <a:avLst/>
          </a:prstGeom>
          <a:noFill/>
          <a:ln/>
        </p:spPr>
        <p:txBody>
          <a:bodyPr wrap="none" lIns="0" tIns="0" rIns="0" bIns="0" rtlCol="0" anchor="t"/>
          <a:lstStyle/>
          <a:p>
            <a:pPr marL="0" indent="0" algn="ctr">
              <a:lnSpc>
                <a:spcPts val="1650"/>
              </a:lnSpc>
              <a:buNone/>
            </a:pPr>
            <a:r>
              <a:rPr lang="en-US" sz="1650" dirty="0">
                <a:solidFill>
                  <a:srgbClr val="FFFFFF"/>
                </a:solidFill>
                <a:latin typeface="Nunito Semi Bold" pitchFamily="34" charset="0"/>
                <a:ea typeface="Nunito Semi Bold" pitchFamily="34" charset="-122"/>
                <a:cs typeface="Nunito Semi Bold" pitchFamily="34" charset="-120"/>
              </a:rPr>
              <a:t>3</a:t>
            </a:r>
            <a:endParaRPr lang="en-US" sz="1650" dirty="0"/>
          </a:p>
        </p:txBody>
      </p:sp>
      <p:sp>
        <p:nvSpPr>
          <p:cNvPr id="18" name="Text 15"/>
          <p:cNvSpPr/>
          <p:nvPr/>
        </p:nvSpPr>
        <p:spPr>
          <a:xfrm>
            <a:off x="1338753" y="3333309"/>
            <a:ext cx="1781175" cy="222647"/>
          </a:xfrm>
          <a:prstGeom prst="rect">
            <a:avLst/>
          </a:prstGeom>
          <a:noFill/>
          <a:ln/>
        </p:spPr>
        <p:txBody>
          <a:bodyPr wrap="none" lIns="0" tIns="0" rIns="0" bIns="0" rtlCol="0" anchor="t"/>
          <a:lstStyle/>
          <a:p>
            <a:pPr marL="0" indent="0" algn="l">
              <a:lnSpc>
                <a:spcPts val="1750"/>
              </a:lnSpc>
              <a:buNone/>
            </a:pPr>
            <a:r>
              <a:rPr lang="en-US" sz="1400" dirty="0">
                <a:solidFill>
                  <a:srgbClr val="FFFFFF"/>
                </a:solidFill>
                <a:latin typeface="Nunito Semi Bold" pitchFamily="34" charset="0"/>
                <a:ea typeface="Nunito Semi Bold" pitchFamily="34" charset="-122"/>
                <a:cs typeface="Nunito Semi Bold" pitchFamily="34" charset="-120"/>
              </a:rPr>
              <a:t>Visualization Module</a:t>
            </a:r>
            <a:endParaRPr lang="en-US" sz="1400" dirty="0"/>
          </a:p>
        </p:txBody>
      </p:sp>
      <p:sp>
        <p:nvSpPr>
          <p:cNvPr id="19" name="Text 16"/>
          <p:cNvSpPr/>
          <p:nvPr/>
        </p:nvSpPr>
        <p:spPr>
          <a:xfrm>
            <a:off x="1338753" y="3646682"/>
            <a:ext cx="12643485" cy="242292"/>
          </a:xfrm>
          <a:prstGeom prst="rect">
            <a:avLst/>
          </a:prstGeom>
          <a:noFill/>
          <a:ln/>
        </p:spPr>
        <p:txBody>
          <a:bodyPr wrap="none" lIns="0" tIns="0" rIns="0" bIns="0" rtlCol="0" anchor="t"/>
          <a:lstStyle/>
          <a:p>
            <a:pPr marL="0" indent="0" algn="l">
              <a:lnSpc>
                <a:spcPts val="1900"/>
              </a:lnSpc>
              <a:buNone/>
            </a:pPr>
            <a:r>
              <a:rPr lang="en-US" sz="1150" dirty="0">
                <a:solidFill>
                  <a:srgbClr val="FFFFFF"/>
                </a:solidFill>
                <a:latin typeface="PT Sans" pitchFamily="34" charset="0"/>
                <a:ea typeface="PT Sans" pitchFamily="34" charset="-122"/>
                <a:cs typeface="PT Sans" pitchFamily="34" charset="-120"/>
              </a:rPr>
              <a:t>Highlights detected tumors with bounding boxes on images.</a:t>
            </a:r>
            <a:endParaRPr lang="en-US" sz="1150" dirty="0"/>
          </a:p>
        </p:txBody>
      </p:sp>
      <p:sp>
        <p:nvSpPr>
          <p:cNvPr id="20" name="Shape 17"/>
          <p:cNvSpPr/>
          <p:nvPr/>
        </p:nvSpPr>
        <p:spPr>
          <a:xfrm>
            <a:off x="747590" y="4395437"/>
            <a:ext cx="454104" cy="15240"/>
          </a:xfrm>
          <a:prstGeom prst="roundRect">
            <a:avLst>
              <a:gd name="adj" fmla="val 1490196"/>
            </a:avLst>
          </a:prstGeom>
          <a:solidFill>
            <a:srgbClr val="48A8E2"/>
          </a:solidFill>
          <a:ln/>
        </p:spPr>
      </p:sp>
      <p:sp>
        <p:nvSpPr>
          <p:cNvPr id="21" name="Shape 18"/>
          <p:cNvSpPr/>
          <p:nvPr/>
        </p:nvSpPr>
        <p:spPr>
          <a:xfrm>
            <a:off x="422193" y="4232798"/>
            <a:ext cx="340638" cy="340638"/>
          </a:xfrm>
          <a:prstGeom prst="roundRect">
            <a:avLst>
              <a:gd name="adj" fmla="val 66671"/>
            </a:avLst>
          </a:prstGeom>
          <a:solidFill>
            <a:srgbClr val="00002E"/>
          </a:solidFill>
          <a:ln w="15240">
            <a:solidFill>
              <a:srgbClr val="48A8E2"/>
            </a:solidFill>
            <a:prstDash val="solid"/>
          </a:ln>
        </p:spPr>
      </p:sp>
      <p:sp>
        <p:nvSpPr>
          <p:cNvPr id="22" name="Text 19"/>
          <p:cNvSpPr/>
          <p:nvPr/>
        </p:nvSpPr>
        <p:spPr>
          <a:xfrm>
            <a:off x="485593" y="4269469"/>
            <a:ext cx="213717" cy="267176"/>
          </a:xfrm>
          <a:prstGeom prst="rect">
            <a:avLst/>
          </a:prstGeom>
          <a:noFill/>
          <a:ln/>
        </p:spPr>
        <p:txBody>
          <a:bodyPr wrap="none" lIns="0" tIns="0" rIns="0" bIns="0" rtlCol="0" anchor="t"/>
          <a:lstStyle/>
          <a:p>
            <a:pPr marL="0" indent="0" algn="ctr">
              <a:lnSpc>
                <a:spcPts val="1650"/>
              </a:lnSpc>
              <a:buNone/>
            </a:pPr>
            <a:r>
              <a:rPr lang="en-US" sz="1650" dirty="0">
                <a:solidFill>
                  <a:srgbClr val="FFFFFF"/>
                </a:solidFill>
                <a:latin typeface="Nunito Semi Bold" pitchFamily="34" charset="0"/>
                <a:ea typeface="Nunito Semi Bold" pitchFamily="34" charset="-122"/>
                <a:cs typeface="Nunito Semi Bold" pitchFamily="34" charset="-120"/>
              </a:rPr>
              <a:t>4</a:t>
            </a:r>
            <a:endParaRPr lang="en-US" sz="1650" dirty="0"/>
          </a:p>
        </p:txBody>
      </p:sp>
      <p:sp>
        <p:nvSpPr>
          <p:cNvPr id="23" name="Text 20"/>
          <p:cNvSpPr/>
          <p:nvPr/>
        </p:nvSpPr>
        <p:spPr>
          <a:xfrm>
            <a:off x="1338753" y="4342959"/>
            <a:ext cx="1781175" cy="222647"/>
          </a:xfrm>
          <a:prstGeom prst="rect">
            <a:avLst/>
          </a:prstGeom>
          <a:noFill/>
          <a:ln/>
        </p:spPr>
        <p:txBody>
          <a:bodyPr wrap="none" lIns="0" tIns="0" rIns="0" bIns="0" rtlCol="0" anchor="t"/>
          <a:lstStyle/>
          <a:p>
            <a:pPr marL="0" indent="0" algn="l">
              <a:lnSpc>
                <a:spcPts val="1750"/>
              </a:lnSpc>
              <a:buNone/>
            </a:pPr>
            <a:r>
              <a:rPr lang="en-US" sz="1400" dirty="0">
                <a:solidFill>
                  <a:srgbClr val="FFFFFF"/>
                </a:solidFill>
                <a:latin typeface="Nunito Semi Bold" pitchFamily="34" charset="0"/>
                <a:ea typeface="Nunito Semi Bold" pitchFamily="34" charset="-122"/>
                <a:cs typeface="Nunito Semi Bold" pitchFamily="34" charset="-120"/>
              </a:rPr>
              <a:t>Reporting Module</a:t>
            </a:r>
            <a:endParaRPr lang="en-US" sz="1400" dirty="0"/>
          </a:p>
        </p:txBody>
      </p:sp>
      <p:sp>
        <p:nvSpPr>
          <p:cNvPr id="24" name="Text 21"/>
          <p:cNvSpPr/>
          <p:nvPr/>
        </p:nvSpPr>
        <p:spPr>
          <a:xfrm>
            <a:off x="1338753" y="4656332"/>
            <a:ext cx="12643485" cy="242292"/>
          </a:xfrm>
          <a:prstGeom prst="rect">
            <a:avLst/>
          </a:prstGeom>
          <a:noFill/>
          <a:ln/>
        </p:spPr>
        <p:txBody>
          <a:bodyPr wrap="none" lIns="0" tIns="0" rIns="0" bIns="0" rtlCol="0" anchor="t"/>
          <a:lstStyle/>
          <a:p>
            <a:pPr marL="0" indent="0" algn="l">
              <a:lnSpc>
                <a:spcPts val="1900"/>
              </a:lnSpc>
              <a:buNone/>
            </a:pPr>
            <a:r>
              <a:rPr lang="en-US" sz="1150" dirty="0">
                <a:solidFill>
                  <a:srgbClr val="FFFFFF"/>
                </a:solidFill>
                <a:latin typeface="PT Sans" pitchFamily="34" charset="0"/>
                <a:ea typeface="PT Sans" pitchFamily="34" charset="-122"/>
                <a:cs typeface="PT Sans" pitchFamily="34" charset="-120"/>
              </a:rPr>
              <a:t>Generates downloadable PDF diagnostic reports.</a:t>
            </a:r>
            <a:endParaRPr lang="en-US" sz="1150" dirty="0"/>
          </a:p>
        </p:txBody>
      </p:sp>
      <p:pic>
        <p:nvPicPr>
          <p:cNvPr id="26" name="Picture 25">
            <a:extLst>
              <a:ext uri="{FF2B5EF4-FFF2-40B4-BE49-F238E27FC236}">
                <a16:creationId xmlns:a16="http://schemas.microsoft.com/office/drawing/2014/main" id="{B58245F1-DA5B-2251-5C5F-5066550D3306}"/>
              </a:ext>
            </a:extLst>
          </p:cNvPr>
          <p:cNvPicPr>
            <a:picLocks noChangeAspect="1"/>
          </p:cNvPicPr>
          <p:nvPr/>
        </p:nvPicPr>
        <p:blipFill>
          <a:blip r:embed="rId5"/>
          <a:stretch>
            <a:fillRect/>
          </a:stretch>
        </p:blipFill>
        <p:spPr>
          <a:xfrm>
            <a:off x="12627797" y="7806689"/>
            <a:ext cx="2004284" cy="34558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126795" y="57127"/>
            <a:ext cx="5227059" cy="6188658"/>
          </a:xfrm>
          <a:prstGeom prst="rect">
            <a:avLst/>
          </a:prstGeom>
          <a:ln>
            <a:noFill/>
          </a:ln>
          <a:effectLst>
            <a:softEdge rad="112500"/>
          </a:effectLst>
        </p:spPr>
      </p:pic>
      <p:sp>
        <p:nvSpPr>
          <p:cNvPr id="4" name="Text 0"/>
          <p:cNvSpPr/>
          <p:nvPr/>
        </p:nvSpPr>
        <p:spPr>
          <a:xfrm>
            <a:off x="6324124" y="790932"/>
            <a:ext cx="7468553" cy="1408033"/>
          </a:xfrm>
          <a:prstGeom prst="rect">
            <a:avLst/>
          </a:prstGeom>
          <a:noFill/>
          <a:ln/>
        </p:spPr>
        <p:txBody>
          <a:bodyPr wrap="square" lIns="0" tIns="0" rIns="0" bIns="0" rtlCol="0" anchor="t"/>
          <a:lstStyle/>
          <a:p>
            <a:pPr marL="0" indent="0" algn="l">
              <a:lnSpc>
                <a:spcPts val="5500"/>
              </a:lnSpc>
              <a:buNone/>
            </a:pPr>
            <a:r>
              <a:rPr lang="en-US" sz="4400" dirty="0">
                <a:solidFill>
                  <a:srgbClr val="FFFFFF"/>
                </a:solidFill>
                <a:latin typeface="Nunito Semi Bold" pitchFamily="34" charset="0"/>
                <a:ea typeface="Nunito Semi Bold" pitchFamily="34" charset="-122"/>
                <a:cs typeface="Nunito Semi Bold" pitchFamily="34" charset="-120"/>
              </a:rPr>
              <a:t>User Guide and Technical Implementation</a:t>
            </a:r>
            <a:endParaRPr lang="en-US" sz="4400" dirty="0"/>
          </a:p>
        </p:txBody>
      </p:sp>
      <p:pic>
        <p:nvPicPr>
          <p:cNvPr id="5" name="Image 2" descr="preencoded.png"/>
          <p:cNvPicPr>
            <a:picLocks noChangeAspect="1"/>
          </p:cNvPicPr>
          <p:nvPr/>
        </p:nvPicPr>
        <p:blipFill>
          <a:blip r:embed="rId5"/>
          <a:stretch>
            <a:fillRect/>
          </a:stretch>
        </p:blipFill>
        <p:spPr>
          <a:xfrm>
            <a:off x="6324124" y="2557939"/>
            <a:ext cx="1196816" cy="2757368"/>
          </a:xfrm>
          <a:prstGeom prst="rect">
            <a:avLst/>
          </a:prstGeom>
        </p:spPr>
      </p:pic>
      <p:sp>
        <p:nvSpPr>
          <p:cNvPr id="6" name="Text 1"/>
          <p:cNvSpPr/>
          <p:nvPr/>
        </p:nvSpPr>
        <p:spPr>
          <a:xfrm>
            <a:off x="7879913" y="2797254"/>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Nunito Semi Bold" pitchFamily="34" charset="0"/>
                <a:ea typeface="Nunito Semi Bold" pitchFamily="34" charset="-122"/>
                <a:cs typeface="Nunito Semi Bold" pitchFamily="34" charset="-120"/>
              </a:rPr>
              <a:t>User Steps</a:t>
            </a:r>
            <a:endParaRPr lang="en-US" sz="2200" dirty="0"/>
          </a:p>
        </p:txBody>
      </p:sp>
      <p:sp>
        <p:nvSpPr>
          <p:cNvPr id="7" name="Text 2"/>
          <p:cNvSpPr/>
          <p:nvPr/>
        </p:nvSpPr>
        <p:spPr>
          <a:xfrm>
            <a:off x="7879913" y="3292793"/>
            <a:ext cx="5912763"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FFFFF"/>
                </a:solidFill>
                <a:latin typeface="PT Sans" pitchFamily="34" charset="0"/>
                <a:ea typeface="PT Sans" pitchFamily="34" charset="-122"/>
                <a:cs typeface="PT Sans" pitchFamily="34" charset="-120"/>
              </a:rPr>
              <a:t>Enter patient details</a:t>
            </a:r>
            <a:endParaRPr lang="en-US" sz="1850" dirty="0"/>
          </a:p>
        </p:txBody>
      </p:sp>
      <p:sp>
        <p:nvSpPr>
          <p:cNvPr id="8" name="Text 3"/>
          <p:cNvSpPr/>
          <p:nvPr/>
        </p:nvSpPr>
        <p:spPr>
          <a:xfrm>
            <a:off x="7879913" y="3759518"/>
            <a:ext cx="5912763"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FFFFF"/>
                </a:solidFill>
                <a:latin typeface="PT Sans" pitchFamily="34" charset="0"/>
                <a:ea typeface="PT Sans" pitchFamily="34" charset="-122"/>
                <a:cs typeface="PT Sans" pitchFamily="34" charset="-120"/>
              </a:rPr>
              <a:t>Upload MRI scan</a:t>
            </a:r>
            <a:endParaRPr lang="en-US" sz="1850" dirty="0"/>
          </a:p>
        </p:txBody>
      </p:sp>
      <p:sp>
        <p:nvSpPr>
          <p:cNvPr id="9" name="Text 4"/>
          <p:cNvSpPr/>
          <p:nvPr/>
        </p:nvSpPr>
        <p:spPr>
          <a:xfrm>
            <a:off x="7879913" y="4226243"/>
            <a:ext cx="5912763"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FFFFF"/>
                </a:solidFill>
                <a:latin typeface="PT Sans" pitchFamily="34" charset="0"/>
                <a:ea typeface="PT Sans" pitchFamily="34" charset="-122"/>
                <a:cs typeface="PT Sans" pitchFamily="34" charset="-120"/>
              </a:rPr>
              <a:t>View tumor detection results</a:t>
            </a:r>
            <a:endParaRPr lang="en-US" sz="1850" dirty="0"/>
          </a:p>
        </p:txBody>
      </p:sp>
      <p:sp>
        <p:nvSpPr>
          <p:cNvPr id="10" name="Text 5"/>
          <p:cNvSpPr/>
          <p:nvPr/>
        </p:nvSpPr>
        <p:spPr>
          <a:xfrm>
            <a:off x="7879913" y="4692968"/>
            <a:ext cx="5912763"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FFFFF"/>
                </a:solidFill>
                <a:latin typeface="PT Sans" pitchFamily="34" charset="0"/>
                <a:ea typeface="PT Sans" pitchFamily="34" charset="-122"/>
                <a:cs typeface="PT Sans" pitchFamily="34" charset="-120"/>
              </a:rPr>
              <a:t>Download report</a:t>
            </a:r>
            <a:endParaRPr lang="en-US" sz="1850" dirty="0"/>
          </a:p>
        </p:txBody>
      </p:sp>
      <p:pic>
        <p:nvPicPr>
          <p:cNvPr id="11" name="Image 3" descr="preencoded.png"/>
          <p:cNvPicPr>
            <a:picLocks noChangeAspect="1"/>
          </p:cNvPicPr>
          <p:nvPr/>
        </p:nvPicPr>
        <p:blipFill>
          <a:blip r:embed="rId6"/>
          <a:stretch>
            <a:fillRect/>
          </a:stretch>
        </p:blipFill>
        <p:spPr>
          <a:xfrm>
            <a:off x="6324124" y="5315307"/>
            <a:ext cx="1196816" cy="2123242"/>
          </a:xfrm>
          <a:prstGeom prst="rect">
            <a:avLst/>
          </a:prstGeom>
        </p:spPr>
      </p:pic>
      <p:sp>
        <p:nvSpPr>
          <p:cNvPr id="12" name="Text 6"/>
          <p:cNvSpPr/>
          <p:nvPr/>
        </p:nvSpPr>
        <p:spPr>
          <a:xfrm>
            <a:off x="7879913" y="5554623"/>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Nunito Semi Bold" pitchFamily="34" charset="0"/>
                <a:ea typeface="Nunito Semi Bold" pitchFamily="34" charset="-122"/>
                <a:cs typeface="Nunito Semi Bold" pitchFamily="34" charset="-120"/>
              </a:rPr>
              <a:t>Technical Details</a:t>
            </a:r>
            <a:endParaRPr lang="en-US" sz="2200" dirty="0"/>
          </a:p>
        </p:txBody>
      </p:sp>
      <p:sp>
        <p:nvSpPr>
          <p:cNvPr id="13" name="Text 7"/>
          <p:cNvSpPr/>
          <p:nvPr/>
        </p:nvSpPr>
        <p:spPr>
          <a:xfrm>
            <a:off x="7879913" y="6050161"/>
            <a:ext cx="5912763" cy="1149072"/>
          </a:xfrm>
          <a:prstGeom prst="rect">
            <a:avLst/>
          </a:prstGeom>
          <a:noFill/>
          <a:ln/>
        </p:spPr>
        <p:txBody>
          <a:bodyPr wrap="square" lIns="0" tIns="0" rIns="0" bIns="0" rtlCol="0" anchor="t"/>
          <a:lstStyle/>
          <a:p>
            <a:pPr marL="0" indent="0" algn="l">
              <a:lnSpc>
                <a:spcPts val="3000"/>
              </a:lnSpc>
              <a:buNone/>
            </a:pPr>
            <a:r>
              <a:rPr lang="en-US" sz="1850" dirty="0">
                <a:solidFill>
                  <a:srgbClr val="FFFFFF"/>
                </a:solidFill>
                <a:latin typeface="PT Sans" pitchFamily="34" charset="0"/>
                <a:ea typeface="PT Sans" pitchFamily="34" charset="-122"/>
                <a:cs typeface="PT Sans" pitchFamily="34" charset="-120"/>
              </a:rPr>
              <a:t>Image preprocessing includes resizing and normalization. Detection uses YOLOv11m. Streamlit renders UI and FPDF generates reports.</a:t>
            </a:r>
            <a:endParaRPr lang="en-US" sz="1850" dirty="0"/>
          </a:p>
        </p:txBody>
      </p:sp>
      <p:pic>
        <p:nvPicPr>
          <p:cNvPr id="15" name="Picture 14">
            <a:extLst>
              <a:ext uri="{FF2B5EF4-FFF2-40B4-BE49-F238E27FC236}">
                <a16:creationId xmlns:a16="http://schemas.microsoft.com/office/drawing/2014/main" id="{AE12BCBC-5BE2-F224-C14D-027D193AEA73}"/>
              </a:ext>
            </a:extLst>
          </p:cNvPr>
          <p:cNvPicPr>
            <a:picLocks noChangeAspect="1"/>
          </p:cNvPicPr>
          <p:nvPr/>
        </p:nvPicPr>
        <p:blipFill>
          <a:blip r:embed="rId7"/>
          <a:stretch>
            <a:fillRect/>
          </a:stretch>
        </p:blipFill>
        <p:spPr>
          <a:xfrm>
            <a:off x="7146776" y="7516233"/>
            <a:ext cx="7372350" cy="6091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chemeClr val="bg2"/>
        </a:solidFill>
        <a:effectLst/>
      </p:bgPr>
    </p:bg>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9220665" y="2029630"/>
            <a:ext cx="4887873" cy="477464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Text 0"/>
          <p:cNvSpPr/>
          <p:nvPr/>
        </p:nvSpPr>
        <p:spPr>
          <a:xfrm>
            <a:off x="837724" y="1325642"/>
            <a:ext cx="7468553" cy="1408033"/>
          </a:xfrm>
          <a:prstGeom prst="rect">
            <a:avLst/>
          </a:prstGeom>
          <a:noFill/>
          <a:ln/>
        </p:spPr>
        <p:txBody>
          <a:bodyPr wrap="square" lIns="0" tIns="0" rIns="0" bIns="0" rtlCol="0" anchor="t"/>
          <a:lstStyle/>
          <a:p>
            <a:pPr marL="0" indent="0" algn="l">
              <a:lnSpc>
                <a:spcPts val="5500"/>
              </a:lnSpc>
              <a:buNone/>
            </a:pPr>
            <a:r>
              <a:rPr lang="en-US" sz="4400" dirty="0">
                <a:solidFill>
                  <a:srgbClr val="FFFFFF"/>
                </a:solidFill>
                <a:latin typeface="Nunito Semi Bold" pitchFamily="34" charset="0"/>
                <a:ea typeface="Nunito Semi Bold" pitchFamily="34" charset="-122"/>
                <a:cs typeface="Nunito Semi Bold" pitchFamily="34" charset="-120"/>
              </a:rPr>
              <a:t>Detection Results and Output</a:t>
            </a:r>
            <a:endParaRPr lang="en-US" sz="4400" dirty="0"/>
          </a:p>
        </p:txBody>
      </p:sp>
      <p:sp>
        <p:nvSpPr>
          <p:cNvPr id="5" name="Shape 1"/>
          <p:cNvSpPr/>
          <p:nvPr/>
        </p:nvSpPr>
        <p:spPr>
          <a:xfrm>
            <a:off x="837724" y="3092648"/>
            <a:ext cx="7468553" cy="1785938"/>
          </a:xfrm>
          <a:prstGeom prst="roundRect">
            <a:avLst>
              <a:gd name="adj" fmla="val 20105"/>
            </a:avLst>
          </a:prstGeom>
          <a:solidFill>
            <a:srgbClr val="00002E"/>
          </a:solidFill>
          <a:ln w="22860">
            <a:solidFill>
              <a:srgbClr val="F2B42D"/>
            </a:solidFill>
            <a:prstDash val="solid"/>
          </a:ln>
        </p:spPr>
      </p:sp>
      <p:sp>
        <p:nvSpPr>
          <p:cNvPr id="6" name="Text 2"/>
          <p:cNvSpPr/>
          <p:nvPr/>
        </p:nvSpPr>
        <p:spPr>
          <a:xfrm>
            <a:off x="1099899" y="3354824"/>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Nunito Semi Bold" pitchFamily="34" charset="0"/>
                <a:ea typeface="Nunito Semi Bold" pitchFamily="34" charset="-122"/>
                <a:cs typeface="Nunito Semi Bold" pitchFamily="34" charset="-120"/>
              </a:rPr>
              <a:t>Report Highlights</a:t>
            </a:r>
            <a:endParaRPr lang="en-US" sz="2200" dirty="0"/>
          </a:p>
        </p:txBody>
      </p:sp>
      <p:sp>
        <p:nvSpPr>
          <p:cNvPr id="7" name="Text 3"/>
          <p:cNvSpPr/>
          <p:nvPr/>
        </p:nvSpPr>
        <p:spPr>
          <a:xfrm>
            <a:off x="1099899" y="3850362"/>
            <a:ext cx="6944201" cy="766048"/>
          </a:xfrm>
          <a:prstGeom prst="rect">
            <a:avLst/>
          </a:prstGeom>
          <a:noFill/>
          <a:ln/>
        </p:spPr>
        <p:txBody>
          <a:bodyPr wrap="square" lIns="0" tIns="0" rIns="0" bIns="0" rtlCol="0" anchor="t"/>
          <a:lstStyle/>
          <a:p>
            <a:pPr marL="0" indent="0" algn="l">
              <a:lnSpc>
                <a:spcPts val="3000"/>
              </a:lnSpc>
              <a:buNone/>
            </a:pPr>
            <a:r>
              <a:rPr lang="en-US" sz="1850" dirty="0">
                <a:solidFill>
                  <a:srgbClr val="FFFFFF"/>
                </a:solidFill>
                <a:latin typeface="PT Sans" pitchFamily="34" charset="0"/>
                <a:ea typeface="PT Sans" pitchFamily="34" charset="-122"/>
                <a:cs typeface="PT Sans" pitchFamily="34" charset="-120"/>
              </a:rPr>
              <a:t>Includes patient info, tumor locations, confidence scores, and classification (benign/malignant).</a:t>
            </a:r>
            <a:endParaRPr lang="en-US" sz="1850" dirty="0"/>
          </a:p>
        </p:txBody>
      </p:sp>
      <p:sp>
        <p:nvSpPr>
          <p:cNvPr id="8" name="Shape 4"/>
          <p:cNvSpPr/>
          <p:nvPr/>
        </p:nvSpPr>
        <p:spPr>
          <a:xfrm>
            <a:off x="837724" y="5117902"/>
            <a:ext cx="7468553" cy="1785938"/>
          </a:xfrm>
          <a:prstGeom prst="roundRect">
            <a:avLst>
              <a:gd name="adj" fmla="val 20105"/>
            </a:avLst>
          </a:prstGeom>
          <a:solidFill>
            <a:srgbClr val="00002E"/>
          </a:solidFill>
          <a:ln w="22860">
            <a:solidFill>
              <a:srgbClr val="D7425E"/>
            </a:solidFill>
            <a:prstDash val="solid"/>
          </a:ln>
        </p:spPr>
      </p:sp>
      <p:sp>
        <p:nvSpPr>
          <p:cNvPr id="9" name="Text 5"/>
          <p:cNvSpPr/>
          <p:nvPr/>
        </p:nvSpPr>
        <p:spPr>
          <a:xfrm>
            <a:off x="1099899" y="5380077"/>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Nunito Semi Bold" pitchFamily="34" charset="0"/>
                <a:ea typeface="Nunito Semi Bold" pitchFamily="34" charset="-122"/>
                <a:cs typeface="Nunito Semi Bold" pitchFamily="34" charset="-120"/>
              </a:rPr>
              <a:t>Disclaimer</a:t>
            </a:r>
            <a:endParaRPr lang="en-US" sz="2200" dirty="0"/>
          </a:p>
        </p:txBody>
      </p:sp>
      <p:sp>
        <p:nvSpPr>
          <p:cNvPr id="10" name="Text 6"/>
          <p:cNvSpPr/>
          <p:nvPr/>
        </p:nvSpPr>
        <p:spPr>
          <a:xfrm>
            <a:off x="1099899" y="5875615"/>
            <a:ext cx="6944201" cy="766048"/>
          </a:xfrm>
          <a:prstGeom prst="rect">
            <a:avLst/>
          </a:prstGeom>
          <a:noFill/>
          <a:ln/>
        </p:spPr>
        <p:txBody>
          <a:bodyPr wrap="square" lIns="0" tIns="0" rIns="0" bIns="0" rtlCol="0" anchor="t"/>
          <a:lstStyle/>
          <a:p>
            <a:pPr marL="0" indent="0" algn="l">
              <a:lnSpc>
                <a:spcPts val="3000"/>
              </a:lnSpc>
              <a:buNone/>
            </a:pPr>
            <a:r>
              <a:rPr lang="en-US" sz="1850" dirty="0">
                <a:solidFill>
                  <a:srgbClr val="FFFFFF"/>
                </a:solidFill>
                <a:latin typeface="PT Sans" pitchFamily="34" charset="0"/>
                <a:ea typeface="PT Sans" pitchFamily="34" charset="-122"/>
                <a:cs typeface="PT Sans" pitchFamily="34" charset="-120"/>
              </a:rPr>
              <a:t>AI-generated reports assist diagnosis but require review by licensed medical professionals.</a:t>
            </a:r>
            <a:endParaRPr lang="en-US" sz="1850" dirty="0"/>
          </a:p>
        </p:txBody>
      </p:sp>
      <p:pic>
        <p:nvPicPr>
          <p:cNvPr id="12" name="Picture 11">
            <a:extLst>
              <a:ext uri="{FF2B5EF4-FFF2-40B4-BE49-F238E27FC236}">
                <a16:creationId xmlns:a16="http://schemas.microsoft.com/office/drawing/2014/main" id="{449B406C-1507-23E7-5828-3682DA0AAC49}"/>
              </a:ext>
            </a:extLst>
          </p:cNvPr>
          <p:cNvPicPr>
            <a:picLocks noChangeAspect="1"/>
          </p:cNvPicPr>
          <p:nvPr/>
        </p:nvPicPr>
        <p:blipFill>
          <a:blip r:embed="rId4"/>
          <a:stretch>
            <a:fillRect/>
          </a:stretch>
        </p:blipFill>
        <p:spPr>
          <a:xfrm>
            <a:off x="7146776" y="7096685"/>
            <a:ext cx="7372350" cy="10287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3839108" y="327926"/>
            <a:ext cx="7468553" cy="1408033"/>
          </a:xfrm>
          <a:prstGeom prst="rect">
            <a:avLst/>
          </a:prstGeom>
          <a:noFill/>
          <a:ln/>
        </p:spPr>
        <p:txBody>
          <a:bodyPr wrap="square" lIns="0" tIns="0" rIns="0" bIns="0" rtlCol="0" anchor="t"/>
          <a:lstStyle/>
          <a:p>
            <a:pPr marL="0" indent="0" algn="ctr">
              <a:lnSpc>
                <a:spcPts val="5500"/>
              </a:lnSpc>
              <a:buNone/>
            </a:pPr>
            <a:r>
              <a:rPr lang="en-US" sz="4400" dirty="0">
                <a:solidFill>
                  <a:srgbClr val="FFFFFF"/>
                </a:solidFill>
                <a:latin typeface="Nunito Semi Bold" pitchFamily="34" charset="0"/>
                <a:ea typeface="Nunito Semi Bold" pitchFamily="34" charset="-122"/>
                <a:cs typeface="Nunito Semi Bold" pitchFamily="34" charset="-120"/>
              </a:rPr>
              <a:t>Conclusion and Future Enhancements</a:t>
            </a:r>
            <a:endParaRPr lang="en-US" sz="4400" dirty="0">
              <a:ea typeface="Calibri" panose="020F0502020204030204"/>
              <a:cs typeface="Calibri" panose="020F0502020204030204"/>
            </a:endParaRPr>
          </a:p>
        </p:txBody>
      </p:sp>
      <p:sp>
        <p:nvSpPr>
          <p:cNvPr id="4" name="Shape 1"/>
          <p:cNvSpPr/>
          <p:nvPr/>
        </p:nvSpPr>
        <p:spPr>
          <a:xfrm>
            <a:off x="1063635" y="2261935"/>
            <a:ext cx="538520" cy="538520"/>
          </a:xfrm>
          <a:prstGeom prst="roundRect">
            <a:avLst>
              <a:gd name="adj" fmla="val 66677"/>
            </a:avLst>
          </a:prstGeom>
          <a:solidFill>
            <a:srgbClr val="00002E"/>
          </a:solidFill>
          <a:ln w="22860">
            <a:solidFill>
              <a:srgbClr val="F2B42D"/>
            </a:solidFill>
            <a:prstDash val="solid"/>
          </a:ln>
        </p:spPr>
      </p:sp>
      <p:sp>
        <p:nvSpPr>
          <p:cNvPr id="5" name="Text 2"/>
          <p:cNvSpPr/>
          <p:nvPr/>
        </p:nvSpPr>
        <p:spPr>
          <a:xfrm>
            <a:off x="1163885" y="2319919"/>
            <a:ext cx="337899" cy="422434"/>
          </a:xfrm>
          <a:prstGeom prst="rect">
            <a:avLst/>
          </a:prstGeom>
          <a:noFill/>
          <a:ln/>
        </p:spPr>
        <p:txBody>
          <a:bodyPr wrap="none" lIns="0" tIns="0" rIns="0" bIns="0" rtlCol="0" anchor="t"/>
          <a:lstStyle/>
          <a:p>
            <a:pPr marL="0" indent="0" algn="ctr">
              <a:lnSpc>
                <a:spcPts val="2650"/>
              </a:lnSpc>
              <a:buNone/>
            </a:pPr>
            <a:r>
              <a:rPr lang="en-US" sz="2650" dirty="0">
                <a:solidFill>
                  <a:srgbClr val="FFFFFF"/>
                </a:solidFill>
                <a:latin typeface="Nunito Semi Bold" pitchFamily="34" charset="0"/>
                <a:ea typeface="Nunito Semi Bold" pitchFamily="34" charset="-122"/>
                <a:cs typeface="Nunito Semi Bold" pitchFamily="34" charset="-120"/>
              </a:rPr>
              <a:t>1</a:t>
            </a:r>
            <a:endParaRPr lang="en-US" sz="2650" dirty="0"/>
          </a:p>
        </p:txBody>
      </p:sp>
      <p:sp>
        <p:nvSpPr>
          <p:cNvPr id="6" name="Text 3"/>
          <p:cNvSpPr/>
          <p:nvPr/>
        </p:nvSpPr>
        <p:spPr>
          <a:xfrm>
            <a:off x="1841470" y="2261935"/>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Nunito Semi Bold" pitchFamily="34" charset="0"/>
                <a:ea typeface="Nunito Semi Bold" pitchFamily="34" charset="-122"/>
                <a:cs typeface="Nunito Semi Bold" pitchFamily="34" charset="-120"/>
              </a:rPr>
              <a:t>Conclusion</a:t>
            </a:r>
            <a:endParaRPr lang="en-US" sz="2200" dirty="0"/>
          </a:p>
        </p:txBody>
      </p:sp>
      <p:sp>
        <p:nvSpPr>
          <p:cNvPr id="7" name="Text 4"/>
          <p:cNvSpPr/>
          <p:nvPr/>
        </p:nvSpPr>
        <p:spPr>
          <a:xfrm>
            <a:off x="1841470" y="2757473"/>
            <a:ext cx="6690717" cy="766048"/>
          </a:xfrm>
          <a:prstGeom prst="rect">
            <a:avLst/>
          </a:prstGeom>
          <a:noFill/>
          <a:ln/>
        </p:spPr>
        <p:txBody>
          <a:bodyPr wrap="square" lIns="0" tIns="0" rIns="0" bIns="0" rtlCol="0" anchor="t"/>
          <a:lstStyle/>
          <a:p>
            <a:pPr marL="0" indent="0" algn="l">
              <a:lnSpc>
                <a:spcPts val="3000"/>
              </a:lnSpc>
              <a:buNone/>
            </a:pPr>
            <a:r>
              <a:rPr lang="en-US" sz="1850" dirty="0">
                <a:solidFill>
                  <a:srgbClr val="FFFFFF"/>
                </a:solidFill>
                <a:latin typeface="PT Sans" pitchFamily="34" charset="0"/>
                <a:ea typeface="PT Sans" pitchFamily="34" charset="-122"/>
                <a:cs typeface="PT Sans" pitchFamily="34" charset="-120"/>
              </a:rPr>
              <a:t>Deep learning enables accurate, real-time brain tumor detection, supporting early diagnosis and aiding radiologists.</a:t>
            </a:r>
            <a:endParaRPr lang="en-US" sz="1850" dirty="0"/>
          </a:p>
        </p:txBody>
      </p:sp>
      <p:sp>
        <p:nvSpPr>
          <p:cNvPr id="8" name="Shape 5"/>
          <p:cNvSpPr/>
          <p:nvPr/>
        </p:nvSpPr>
        <p:spPr>
          <a:xfrm>
            <a:off x="4495324" y="4376282"/>
            <a:ext cx="538520" cy="538520"/>
          </a:xfrm>
          <a:prstGeom prst="roundRect">
            <a:avLst>
              <a:gd name="adj" fmla="val 66677"/>
            </a:avLst>
          </a:prstGeom>
          <a:solidFill>
            <a:srgbClr val="00002E"/>
          </a:solidFill>
          <a:ln w="22860">
            <a:solidFill>
              <a:srgbClr val="D7425E"/>
            </a:solidFill>
            <a:prstDash val="solid"/>
          </a:ln>
        </p:spPr>
      </p:sp>
      <p:sp>
        <p:nvSpPr>
          <p:cNvPr id="9" name="Text 6"/>
          <p:cNvSpPr/>
          <p:nvPr/>
        </p:nvSpPr>
        <p:spPr>
          <a:xfrm>
            <a:off x="4595574" y="4434266"/>
            <a:ext cx="337899" cy="422434"/>
          </a:xfrm>
          <a:prstGeom prst="rect">
            <a:avLst/>
          </a:prstGeom>
          <a:noFill/>
          <a:ln/>
        </p:spPr>
        <p:txBody>
          <a:bodyPr wrap="none" lIns="0" tIns="0" rIns="0" bIns="0" rtlCol="0" anchor="t"/>
          <a:lstStyle/>
          <a:p>
            <a:pPr marL="0" indent="0" algn="ctr">
              <a:lnSpc>
                <a:spcPts val="2650"/>
              </a:lnSpc>
              <a:buNone/>
            </a:pPr>
            <a:r>
              <a:rPr lang="en-US" sz="2650" dirty="0">
                <a:solidFill>
                  <a:srgbClr val="FFFFFF"/>
                </a:solidFill>
                <a:latin typeface="Nunito Semi Bold" pitchFamily="34" charset="0"/>
                <a:ea typeface="Nunito Semi Bold" pitchFamily="34" charset="-122"/>
                <a:cs typeface="Nunito Semi Bold" pitchFamily="34" charset="-120"/>
              </a:rPr>
              <a:t>2</a:t>
            </a:r>
            <a:endParaRPr lang="en-US" sz="2650" dirty="0"/>
          </a:p>
        </p:txBody>
      </p:sp>
      <p:sp>
        <p:nvSpPr>
          <p:cNvPr id="10" name="Text 7"/>
          <p:cNvSpPr/>
          <p:nvPr/>
        </p:nvSpPr>
        <p:spPr>
          <a:xfrm>
            <a:off x="5273159" y="4376282"/>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Nunito Semi Bold" pitchFamily="34" charset="0"/>
                <a:ea typeface="Nunito Semi Bold" pitchFamily="34" charset="-122"/>
                <a:cs typeface="Nunito Semi Bold" pitchFamily="34" charset="-120"/>
              </a:rPr>
              <a:t>Future Enhancements</a:t>
            </a:r>
            <a:endParaRPr lang="en-US" sz="2200" dirty="0"/>
          </a:p>
        </p:txBody>
      </p:sp>
      <p:sp>
        <p:nvSpPr>
          <p:cNvPr id="11" name="Text 8"/>
          <p:cNvSpPr/>
          <p:nvPr/>
        </p:nvSpPr>
        <p:spPr>
          <a:xfrm>
            <a:off x="5273159" y="4871821"/>
            <a:ext cx="6690717"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FFFFF"/>
                </a:solidFill>
                <a:latin typeface="PT Sans" pitchFamily="34" charset="0"/>
                <a:ea typeface="PT Sans" pitchFamily="34" charset="-122"/>
                <a:cs typeface="PT Sans" pitchFamily="34" charset="-120"/>
              </a:rPr>
              <a:t>3D MRI support</a:t>
            </a:r>
            <a:endParaRPr lang="en-US" sz="1850" dirty="0"/>
          </a:p>
        </p:txBody>
      </p:sp>
      <p:sp>
        <p:nvSpPr>
          <p:cNvPr id="12" name="Text 9"/>
          <p:cNvSpPr/>
          <p:nvPr/>
        </p:nvSpPr>
        <p:spPr>
          <a:xfrm>
            <a:off x="5273159" y="5338546"/>
            <a:ext cx="6690717"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FFFFF"/>
                </a:solidFill>
                <a:latin typeface="PT Sans" pitchFamily="34" charset="0"/>
                <a:ea typeface="PT Sans" pitchFamily="34" charset="-122"/>
                <a:cs typeface="PT Sans" pitchFamily="34" charset="-120"/>
              </a:rPr>
              <a:t>Attention mechanisms</a:t>
            </a:r>
            <a:endParaRPr lang="en-US" sz="1850" dirty="0"/>
          </a:p>
        </p:txBody>
      </p:sp>
      <p:sp>
        <p:nvSpPr>
          <p:cNvPr id="13" name="Text 10"/>
          <p:cNvSpPr/>
          <p:nvPr/>
        </p:nvSpPr>
        <p:spPr>
          <a:xfrm>
            <a:off x="5273159" y="5805271"/>
            <a:ext cx="6690717"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FFFFF"/>
                </a:solidFill>
                <a:latin typeface="PT Sans" pitchFamily="34" charset="0"/>
                <a:ea typeface="PT Sans" pitchFamily="34" charset="-122"/>
                <a:cs typeface="PT Sans" pitchFamily="34" charset="-120"/>
              </a:rPr>
              <a:t>Mobile app version</a:t>
            </a:r>
            <a:endParaRPr lang="en-US" sz="1850" dirty="0"/>
          </a:p>
        </p:txBody>
      </p:sp>
      <p:sp>
        <p:nvSpPr>
          <p:cNvPr id="14" name="Text 11"/>
          <p:cNvSpPr/>
          <p:nvPr/>
        </p:nvSpPr>
        <p:spPr>
          <a:xfrm>
            <a:off x="5273159" y="6271996"/>
            <a:ext cx="6690717"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FFFFF"/>
                </a:solidFill>
                <a:latin typeface="PT Sans" pitchFamily="34" charset="0"/>
                <a:ea typeface="PT Sans" pitchFamily="34" charset="-122"/>
                <a:cs typeface="PT Sans" pitchFamily="34" charset="-120"/>
              </a:rPr>
              <a:t>DICOM server integration</a:t>
            </a:r>
            <a:endParaRPr lang="en-US" sz="1850" dirty="0"/>
          </a:p>
        </p:txBody>
      </p:sp>
      <p:sp>
        <p:nvSpPr>
          <p:cNvPr id="15" name="Text 12"/>
          <p:cNvSpPr/>
          <p:nvPr/>
        </p:nvSpPr>
        <p:spPr>
          <a:xfrm>
            <a:off x="5273159" y="6738721"/>
            <a:ext cx="6690717"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FFFFF"/>
                </a:solidFill>
                <a:latin typeface="PT Sans" pitchFamily="34" charset="0"/>
                <a:ea typeface="PT Sans" pitchFamily="34" charset="-122"/>
                <a:cs typeface="PT Sans" pitchFamily="34" charset="-120"/>
              </a:rPr>
              <a:t>Expert feedback tools</a:t>
            </a:r>
            <a:endParaRPr lang="en-US" sz="1850" dirty="0"/>
          </a:p>
        </p:txBody>
      </p:sp>
      <p:pic>
        <p:nvPicPr>
          <p:cNvPr id="17" name="Picture 16">
            <a:extLst>
              <a:ext uri="{FF2B5EF4-FFF2-40B4-BE49-F238E27FC236}">
                <a16:creationId xmlns:a16="http://schemas.microsoft.com/office/drawing/2014/main" id="{06992DBB-D5CF-D27D-1AF1-4E6708C65BD8}"/>
              </a:ext>
            </a:extLst>
          </p:cNvPr>
          <p:cNvPicPr>
            <a:picLocks noChangeAspect="1"/>
          </p:cNvPicPr>
          <p:nvPr/>
        </p:nvPicPr>
        <p:blipFill>
          <a:blip r:embed="rId3"/>
          <a:stretch>
            <a:fillRect/>
          </a:stretch>
        </p:blipFill>
        <p:spPr>
          <a:xfrm>
            <a:off x="7125261" y="7570021"/>
            <a:ext cx="7393865" cy="5553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77</cp:revision>
  <dcterms:created xsi:type="dcterms:W3CDTF">2025-04-28T05:24:36Z</dcterms:created>
  <dcterms:modified xsi:type="dcterms:W3CDTF">2025-04-28T05:48:05Z</dcterms:modified>
</cp:coreProperties>
</file>